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033DFB-268F-4D75-8C42-2E21490FC036}" v="3" dt="2026-08-25T15:39:59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5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US K16" userId="e4bbc6501bc93e10" providerId="LiveId" clId="{3017805F-3A05-4DB6-8A6C-27192B351385}"/>
    <pc:docChg chg="undo custSel modSld">
      <pc:chgData name="ASUS K16" userId="e4bbc6501bc93e10" providerId="LiveId" clId="{3017805F-3A05-4DB6-8A6C-27192B351385}" dt="2026-08-25T16:06:46.797" v="38" actId="1076"/>
      <pc:docMkLst>
        <pc:docMk/>
      </pc:docMkLst>
      <pc:sldChg chg="delSp modSp mod">
        <pc:chgData name="ASUS K16" userId="e4bbc6501bc93e10" providerId="LiveId" clId="{3017805F-3A05-4DB6-8A6C-27192B351385}" dt="2026-08-25T15:43:56.541" v="33" actId="478"/>
        <pc:sldMkLst>
          <pc:docMk/>
          <pc:sldMk cId="0" sldId="256"/>
        </pc:sldMkLst>
        <pc:spChg chg="mod">
          <ac:chgData name="ASUS K16" userId="e4bbc6501bc93e10" providerId="LiveId" clId="{3017805F-3A05-4DB6-8A6C-27192B351385}" dt="2026-08-25T15:43:45.217" v="3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SUS K16" userId="e4bbc6501bc93e10" providerId="LiveId" clId="{3017805F-3A05-4DB6-8A6C-27192B351385}" dt="2026-08-25T15:43:53.764" v="32" actId="1076"/>
          <ac:spMkLst>
            <pc:docMk/>
            <pc:sldMk cId="0" sldId="256"/>
            <ac:spMk id="7" creationId="{00000000-0000-0000-0000-000000000000}"/>
          </ac:spMkLst>
        </pc:spChg>
        <pc:spChg chg="del">
          <ac:chgData name="ASUS K16" userId="e4bbc6501bc93e10" providerId="LiveId" clId="{3017805F-3A05-4DB6-8A6C-27192B351385}" dt="2026-08-25T15:43:56.541" v="33" actId="478"/>
          <ac:spMkLst>
            <pc:docMk/>
            <pc:sldMk cId="0" sldId="256"/>
            <ac:spMk id="8" creationId="{00000000-0000-0000-0000-000000000000}"/>
          </ac:spMkLst>
        </pc:spChg>
      </pc:sldChg>
      <pc:sldChg chg="delSp modSp mod">
        <pc:chgData name="ASUS K16" userId="e4bbc6501bc93e10" providerId="LiveId" clId="{3017805F-3A05-4DB6-8A6C-27192B351385}" dt="2026-08-25T15:44:12.833" v="34" actId="1076"/>
        <pc:sldMkLst>
          <pc:docMk/>
          <pc:sldMk cId="0" sldId="257"/>
        </pc:sldMkLst>
        <pc:spChg chg="del">
          <ac:chgData name="ASUS K16" userId="e4bbc6501bc93e10" providerId="LiveId" clId="{3017805F-3A05-4DB6-8A6C-27192B351385}" dt="2026-08-25T15:37:13.568" v="6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ASUS K16" userId="e4bbc6501bc93e10" providerId="LiveId" clId="{3017805F-3A05-4DB6-8A6C-27192B351385}" dt="2026-08-25T15:44:12.833" v="34" actId="1076"/>
          <ac:spMkLst>
            <pc:docMk/>
            <pc:sldMk cId="0" sldId="257"/>
            <ac:spMk id="4" creationId="{00000000-0000-0000-0000-000000000000}"/>
          </ac:spMkLst>
        </pc:spChg>
      </pc:sldChg>
      <pc:sldChg chg="delSp modSp mod">
        <pc:chgData name="ASUS K16" userId="e4bbc6501bc93e10" providerId="LiveId" clId="{3017805F-3A05-4DB6-8A6C-27192B351385}" dt="2026-08-25T15:44:24.457" v="35" actId="1076"/>
        <pc:sldMkLst>
          <pc:docMk/>
          <pc:sldMk cId="0" sldId="258"/>
        </pc:sldMkLst>
        <pc:spChg chg="del">
          <ac:chgData name="ASUS K16" userId="e4bbc6501bc93e10" providerId="LiveId" clId="{3017805F-3A05-4DB6-8A6C-27192B351385}" dt="2026-08-25T15:37:22.323" v="7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ASUS K16" userId="e4bbc6501bc93e10" providerId="LiveId" clId="{3017805F-3A05-4DB6-8A6C-27192B351385}" dt="2026-08-25T15:44:24.457" v="35" actId="1076"/>
          <ac:spMkLst>
            <pc:docMk/>
            <pc:sldMk cId="0" sldId="258"/>
            <ac:spMk id="28" creationId="{00000000-0000-0000-0000-000000000000}"/>
          </ac:spMkLst>
        </pc:spChg>
      </pc:sldChg>
      <pc:sldChg chg="delSp modSp mod">
        <pc:chgData name="ASUS K16" userId="e4bbc6501bc93e10" providerId="LiveId" clId="{3017805F-3A05-4DB6-8A6C-27192B351385}" dt="2026-08-25T15:41:08.489" v="24" actId="478"/>
        <pc:sldMkLst>
          <pc:docMk/>
          <pc:sldMk cId="0" sldId="259"/>
        </pc:sldMkLst>
        <pc:spChg chg="mod">
          <ac:chgData name="ASUS K16" userId="e4bbc6501bc93e10" providerId="LiveId" clId="{3017805F-3A05-4DB6-8A6C-27192B351385}" dt="2026-08-25T15:37:37.308" v="10" actId="1076"/>
          <ac:spMkLst>
            <pc:docMk/>
            <pc:sldMk cId="0" sldId="259"/>
            <ac:spMk id="2" creationId="{00000000-0000-0000-0000-000000000000}"/>
          </ac:spMkLst>
        </pc:spChg>
        <pc:spChg chg="del">
          <ac:chgData name="ASUS K16" userId="e4bbc6501bc93e10" providerId="LiveId" clId="{3017805F-3A05-4DB6-8A6C-27192B351385}" dt="2026-08-25T15:37:31.988" v="8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ASUS K16" userId="e4bbc6501bc93e10" providerId="LiveId" clId="{3017805F-3A05-4DB6-8A6C-27192B351385}" dt="2026-08-25T15:40:06.807" v="15" actId="20577"/>
          <ac:spMkLst>
            <pc:docMk/>
            <pc:sldMk cId="0" sldId="259"/>
            <ac:spMk id="4" creationId="{00000000-0000-0000-0000-000000000000}"/>
          </ac:spMkLst>
        </pc:spChg>
        <pc:spChg chg="del mod">
          <ac:chgData name="ASUS K16" userId="e4bbc6501bc93e10" providerId="LiveId" clId="{3017805F-3A05-4DB6-8A6C-27192B351385}" dt="2026-08-25T15:41:08.489" v="24" actId="478"/>
          <ac:spMkLst>
            <pc:docMk/>
            <pc:sldMk cId="0" sldId="259"/>
            <ac:spMk id="29" creationId="{00000000-0000-0000-0000-000000000000}"/>
          </ac:spMkLst>
        </pc:spChg>
        <pc:spChg chg="del mod">
          <ac:chgData name="ASUS K16" userId="e4bbc6501bc93e10" providerId="LiveId" clId="{3017805F-3A05-4DB6-8A6C-27192B351385}" dt="2026-08-25T15:41:06.466" v="22" actId="478"/>
          <ac:spMkLst>
            <pc:docMk/>
            <pc:sldMk cId="0" sldId="259"/>
            <ac:spMk id="30" creationId="{00000000-0000-0000-0000-000000000000}"/>
          </ac:spMkLst>
        </pc:spChg>
      </pc:sldChg>
      <pc:sldChg chg="delSp mod">
        <pc:chgData name="ASUS K16" userId="e4bbc6501bc93e10" providerId="LiveId" clId="{3017805F-3A05-4DB6-8A6C-27192B351385}" dt="2026-08-25T15:42:01.440" v="25" actId="478"/>
        <pc:sldMkLst>
          <pc:docMk/>
          <pc:sldMk cId="0" sldId="260"/>
        </pc:sldMkLst>
        <pc:spChg chg="del">
          <ac:chgData name="ASUS K16" userId="e4bbc6501bc93e10" providerId="LiveId" clId="{3017805F-3A05-4DB6-8A6C-27192B351385}" dt="2026-08-25T15:42:01.440" v="25" actId="478"/>
          <ac:spMkLst>
            <pc:docMk/>
            <pc:sldMk cId="0" sldId="260"/>
            <ac:spMk id="3" creationId="{00000000-0000-0000-0000-000000000000}"/>
          </ac:spMkLst>
        </pc:spChg>
      </pc:sldChg>
      <pc:sldChg chg="delSp mod">
        <pc:chgData name="ASUS K16" userId="e4bbc6501bc93e10" providerId="LiveId" clId="{3017805F-3A05-4DB6-8A6C-27192B351385}" dt="2026-08-25T15:48:07.737" v="36" actId="478"/>
        <pc:sldMkLst>
          <pc:docMk/>
          <pc:sldMk cId="0" sldId="262"/>
        </pc:sldMkLst>
        <pc:spChg chg="del">
          <ac:chgData name="ASUS K16" userId="e4bbc6501bc93e10" providerId="LiveId" clId="{3017805F-3A05-4DB6-8A6C-27192B351385}" dt="2026-08-25T15:48:07.737" v="36" actId="478"/>
          <ac:spMkLst>
            <pc:docMk/>
            <pc:sldMk cId="0" sldId="262"/>
            <ac:spMk id="3" creationId="{00000000-0000-0000-0000-000000000000}"/>
          </ac:spMkLst>
        </pc:spChg>
      </pc:sldChg>
      <pc:sldChg chg="delSp modSp mod">
        <pc:chgData name="ASUS K16" userId="e4bbc6501bc93e10" providerId="LiveId" clId="{3017805F-3A05-4DB6-8A6C-27192B351385}" dt="2026-08-25T16:06:46.797" v="38" actId="1076"/>
        <pc:sldMkLst>
          <pc:docMk/>
          <pc:sldMk cId="0" sldId="263"/>
        </pc:sldMkLst>
        <pc:spChg chg="del">
          <ac:chgData name="ASUS K16" userId="e4bbc6501bc93e10" providerId="LiveId" clId="{3017805F-3A05-4DB6-8A6C-27192B351385}" dt="2026-08-25T16:06:37.216" v="37" actId="478"/>
          <ac:spMkLst>
            <pc:docMk/>
            <pc:sldMk cId="0" sldId="263"/>
            <ac:spMk id="3" creationId="{00000000-0000-0000-0000-000000000000}"/>
          </ac:spMkLst>
        </pc:spChg>
        <pc:spChg chg="mod">
          <ac:chgData name="ASUS K16" userId="e4bbc6501bc93e10" providerId="LiveId" clId="{3017805F-3A05-4DB6-8A6C-27192B351385}" dt="2026-08-25T16:06:46.797" v="38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ASUS K16" userId="e4bbc6501bc93e10" providerId="LiveId" clId="{3017805F-3A05-4DB6-8A6C-27192B351385}" dt="2026-08-25T15:37:01.274" v="5" actId="20577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SUS K16" userId="e4bbc6501bc93e10" providerId="LiveId" clId="{3017805F-3A05-4DB6-8A6C-27192B351385}" dt="2026-08-25T15:36:55.491" v="1" actId="20577"/>
          <ac:spMkLst>
            <pc:docMk/>
            <pc:sldMk cId="0" sldId="263"/>
            <ac:spMk id="26" creationId="{00000000-0000-0000-0000-000000000000}"/>
          </ac:spMkLst>
        </pc:spChg>
        <pc:spChg chg="mod">
          <ac:chgData name="ASUS K16" userId="e4bbc6501bc93e10" providerId="LiveId" clId="{3017805F-3A05-4DB6-8A6C-27192B351385}" dt="2026-08-25T15:36:58.503" v="3" actId="20577"/>
          <ac:spMkLst>
            <pc:docMk/>
            <pc:sldMk cId="0" sldId="263"/>
            <ac:spMk id="34" creationId="{00000000-0000-0000-0000-000000000000}"/>
          </ac:spMkLst>
        </pc:spChg>
      </pc:sldChg>
      <pc:sldChg chg="delSp modSp mod">
        <pc:chgData name="ASUS K16" userId="e4bbc6501bc93e10" providerId="LiveId" clId="{3017805F-3A05-4DB6-8A6C-27192B351385}" dt="2026-08-25T15:43:31.057" v="29" actId="478"/>
        <pc:sldMkLst>
          <pc:docMk/>
          <pc:sldMk cId="0" sldId="266"/>
        </pc:sldMkLst>
        <pc:spChg chg="del">
          <ac:chgData name="ASUS K16" userId="e4bbc6501bc93e10" providerId="LiveId" clId="{3017805F-3A05-4DB6-8A6C-27192B351385}" dt="2026-08-25T15:43:31.057" v="29" actId="478"/>
          <ac:spMkLst>
            <pc:docMk/>
            <pc:sldMk cId="0" sldId="266"/>
            <ac:spMk id="3" creationId="{00000000-0000-0000-0000-000000000000}"/>
          </ac:spMkLst>
        </pc:spChg>
        <pc:spChg chg="mod">
          <ac:chgData name="ASUS K16" userId="e4bbc6501bc93e10" providerId="LiveId" clId="{3017805F-3A05-4DB6-8A6C-27192B351385}" dt="2026-08-25T15:43:20.847" v="27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ASUS K16" userId="e4bbc6501bc93e10" providerId="LiveId" clId="{3017805F-3A05-4DB6-8A6C-27192B351385}" dt="2026-08-25T15:43:24.907" v="28" actId="1076"/>
          <ac:spMkLst>
            <pc:docMk/>
            <pc:sldMk cId="0" sldId="266"/>
            <ac:spMk id="1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SKUs</c:v>
                </c:pt>
              </c:strCache>
            </c:strRef>
          </c:tx>
          <c:spPr>
            <a:solidFill>
              <a:srgbClr val="B33F3F"/>
            </a:solidFill>
            <a:ln>
              <a:solidFill>
                <a:srgbClr val="B33F3F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Stockout</c:v>
                </c:pt>
                <c:pt idx="1">
                  <c:v>Optimal</c:v>
                </c:pt>
                <c:pt idx="2">
                  <c:v>Overstock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B33F3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C6D-47BD-AF1F-108446115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2D7DD"/>
            </a:solidFill>
          </a:ln>
        </c:spPr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2D7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2D7DD"/>
            </a:solidFill>
          </a:ln>
        </c:spPr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gap</c:v>
                </c:pt>
              </c:strCache>
            </c:strRef>
          </c:tx>
          <c:spPr>
            <a:solidFill>
              <a:srgbClr val="B33F3F"/>
            </a:solidFill>
            <a:ln>
              <a:solidFill>
                <a:srgbClr val="B33F3F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FP3055</c:v>
                </c:pt>
                <c:pt idx="1">
                  <c:v>FP2020</c:v>
                </c:pt>
                <c:pt idx="2">
                  <c:v>OP8025</c:v>
                </c:pt>
                <c:pt idx="3">
                  <c:v>OB1265</c:v>
                </c:pt>
                <c:pt idx="4">
                  <c:v>HT2054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-542</c:v>
                </c:pt>
                <c:pt idx="1">
                  <c:v>-430.3210651503523</c:v>
                </c:pt>
                <c:pt idx="2">
                  <c:v>-351</c:v>
                </c:pt>
                <c:pt idx="3">
                  <c:v>-215.56481011906328</c:v>
                </c:pt>
                <c:pt idx="4">
                  <c:v>-59.618844279052041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B33F3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9C6-4312-BF28-F9A0200120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2D7DD"/>
            </a:solidFill>
          </a:ln>
        </c:spPr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D2D7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2D7DD"/>
            </a:solidFill>
          </a:ln>
        </c:spPr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gap</c:v>
                </c:pt>
              </c:strCache>
            </c:strRef>
          </c:tx>
          <c:spPr>
            <a:solidFill>
              <a:srgbClr val="C27D23"/>
            </a:solidFill>
            <a:ln>
              <a:solidFill>
                <a:srgbClr val="C27D23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OF1060</c:v>
                </c:pt>
                <c:pt idx="1">
                  <c:v>HB0156</c:v>
                </c:pt>
                <c:pt idx="2">
                  <c:v>HT1064</c:v>
                </c:pt>
                <c:pt idx="3">
                  <c:v>HB1016</c:v>
                </c:pt>
                <c:pt idx="4">
                  <c:v>OY2545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52.966621276808894</c:v>
                </c:pt>
                <c:pt idx="1">
                  <c:v>118.57624838284471</c:v>
                </c:pt>
                <c:pt idx="2">
                  <c:v>137.09363728967463</c:v>
                </c:pt>
                <c:pt idx="3">
                  <c:v>2395.7836724019626</c:v>
                </c:pt>
                <c:pt idx="4">
                  <c:v>2455.2328605397024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C27D2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FB6-4E1D-AE95-02869E5BC6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2D7DD"/>
            </a:solidFill>
          </a:ln>
        </c:spPr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D2D7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2D7DD"/>
            </a:solidFill>
          </a:ln>
        </c:spPr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1" i="0" u="none" strike="noStrike">
                <a:solidFill>
                  <a:srgbClr val="142A4A"/>
                </a:solidFill>
                <a:latin typeface="Aptos"/>
              </a:defRPr>
            </a:pPr>
            <a:r>
              <a:rPr lang="en-US" sz="1300" b="1" i="0" u="none" strike="noStrike">
                <a:solidFill>
                  <a:srgbClr val="142A4A"/>
                </a:solidFill>
                <a:latin typeface="Aptos"/>
              </a:rPr>
              <a:t>SKU count by inventory status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Stockout</c:v>
                </c:pt>
              </c:strCache>
            </c:strRef>
          </c:tx>
          <c:spPr>
            <a:solidFill>
              <a:srgbClr val="B33F3F"/>
            </a:solidFill>
            <a:effectLst/>
          </c:spPr>
          <c:invertIfNegative val="0"/>
          <c:dLbls>
            <c:numFmt formatCode="[=0]&quot;&quot;;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pto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HIGH demand</c:v>
                </c:pt>
                <c:pt idx="1">
                  <c:v>LOW demand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A1-4AA5-BBBA-39F0237602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Optimal</c:v>
                </c:pt>
              </c:strCache>
            </c:strRef>
          </c:tx>
          <c:spPr>
            <a:solidFill>
              <a:srgbClr val="4D845E"/>
            </a:solidFill>
            <a:effectLst/>
          </c:spPr>
          <c:invertIfNegative val="0"/>
          <c:dLbls>
            <c:numFmt formatCode="[=0]&quot;&quot;;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pto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HIGH demand</c:v>
                </c:pt>
                <c:pt idx="1">
                  <c:v>LOW demand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A1-4AA5-BBBA-39F0237602B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Overstock</c:v>
                </c:pt>
              </c:strCache>
            </c:strRef>
          </c:tx>
          <c:spPr>
            <a:solidFill>
              <a:srgbClr val="C27D23"/>
            </a:solidFill>
            <a:effectLst/>
          </c:spPr>
          <c:invertIfNegative val="0"/>
          <c:dLbls>
            <c:numFmt formatCode="[=0]&quot;&quot;;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pto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HIGH demand</c:v>
                </c:pt>
                <c:pt idx="1">
                  <c:v>LOW demand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A1-4AA5-BBBA-39F0237602B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2D7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72D34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973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FA6B1B-FEB1-4DE5-9E08-0BD6E42279A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32D5F-2CDB-4D5E-A887-FA58C8EF2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61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D5F-2CDB-4D5E-A887-FA58C8EF26F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57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" y="0"/>
            <a:ext cx="12191695" cy="6858000"/>
          </a:xfrm>
          <a:prstGeom prst="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5E91"/>
          </a:solidFill>
          <a:ln>
            <a:solidFill>
              <a:srgbClr val="2D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INVENTORY POLICY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057400"/>
            <a:ext cx="9784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DEE7F0"/>
                </a:solidFill>
                <a:latin typeface="Aptos"/>
              </a:rPr>
              <a:t>Differentiating replenishment policies to balance availability, inventory risk, and working capital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97806" y="3223260"/>
            <a:ext cx="1828800" cy="45720"/>
          </a:xfrm>
          <a:prstGeom prst="rect">
            <a:avLst/>
          </a:prstGeom>
          <a:solidFill>
            <a:srgbClr val="DEEBF7"/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45186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Supply Chain Analytics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42A4A"/>
                </a:solidFill>
                <a:latin typeface="Aptos"/>
              </a:rPr>
              <a:t>Inventory is not scarce at the aggregate level, but it is poorly positioned across SKUs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5F6973"/>
                </a:solidFill>
                <a:latin typeface="Aptos"/>
              </a:rPr>
              <a:t>The dataset shows simultaneous stockouts and excess inventory, pointing to a segmentation and replenishment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4864" cy="1143000"/>
          </a:xfrm>
          <a:prstGeom prst="rect">
            <a:avLst/>
          </a:prstGeom>
          <a:solidFill>
            <a:srgbClr val="2D5E91"/>
          </a:solidFill>
          <a:ln>
            <a:solidFill>
              <a:srgbClr val="2D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664207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A4A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67128"/>
            <a:ext cx="2240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973"/>
                </a:solidFill>
                <a:latin typeface="Aptos"/>
              </a:rPr>
              <a:t>SKUs analyzed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08760"/>
            <a:ext cx="2514600" cy="1143000"/>
          </a:xfrm>
          <a:prstGeom prst="roundRect">
            <a:avLst/>
          </a:prstGeom>
          <a:solidFill>
            <a:srgbClr val="F8E1E1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7560" y="1508760"/>
            <a:ext cx="54864" cy="1143000"/>
          </a:xfrm>
          <a:prstGeom prst="rect">
            <a:avLst/>
          </a:prstGeom>
          <a:solidFill>
            <a:srgbClr val="B33F3F"/>
          </a:solidFill>
          <a:ln>
            <a:solidFill>
              <a:srgbClr val="B3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664207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A4A"/>
                </a:solidFill>
                <a:latin typeface="Aptos"/>
              </a:rPr>
              <a:t>5 (42%)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167128"/>
            <a:ext cx="2240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973"/>
                </a:solidFill>
                <a:latin typeface="Aptos"/>
              </a:rPr>
              <a:t>SKUs classified as stockout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508760"/>
            <a:ext cx="2514600" cy="1143000"/>
          </a:xfrm>
          <a:prstGeom prst="roundRect">
            <a:avLst/>
          </a:prstGeom>
          <a:solidFill>
            <a:srgbClr val="F8EBC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0" y="1508760"/>
            <a:ext cx="54864" cy="1143000"/>
          </a:xfrm>
          <a:prstGeom prst="rect">
            <a:avLst/>
          </a:prstGeom>
          <a:solidFill>
            <a:srgbClr val="C27D23"/>
          </a:solidFill>
          <a:ln>
            <a:solidFill>
              <a:srgbClr val="C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9631" y="1664207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A4A"/>
                </a:solidFill>
                <a:latin typeface="Aptos"/>
              </a:rPr>
              <a:t>4 (33%)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2167128"/>
            <a:ext cx="2240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973"/>
                </a:solidFill>
                <a:latin typeface="Aptos"/>
              </a:rPr>
              <a:t>SKUs classified as overstock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508760"/>
            <a:ext cx="2514600" cy="1143000"/>
          </a:xfrm>
          <a:prstGeom prst="roundRect">
            <a:avLst/>
          </a:prstGeom>
          <a:solidFill>
            <a:srgbClr val="E2EFE4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32520" y="1508760"/>
            <a:ext cx="54864" cy="1143000"/>
          </a:xfrm>
          <a:prstGeom prst="rect">
            <a:avLst/>
          </a:prstGeom>
          <a:solidFill>
            <a:srgbClr val="4D845E"/>
          </a:solidFill>
          <a:ln>
            <a:solidFill>
              <a:srgbClr val="4D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97112" y="1664207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A4A"/>
                </a:solidFill>
                <a:latin typeface="Aptos"/>
              </a:rPr>
              <a:t>3 (25%)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2167128"/>
            <a:ext cx="2240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973"/>
                </a:solidFill>
                <a:latin typeface="Aptos"/>
              </a:rPr>
              <a:t>SKUs classified as optimal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926080"/>
            <a:ext cx="5120640" cy="2788920"/>
          </a:xfrm>
          <a:prstGeom prst="round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1821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What the data tells 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584448"/>
            <a:ext cx="45262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72D34"/>
                </a:solidFill>
                <a:latin typeface="Aptos"/>
              </a:defRPr>
            </a:pPr>
            <a:r>
              <a:t>• Available inventory totals 19,713 units versus 16,101 units of demand, a net surplus of 3,612 units.</a:t>
            </a:r>
          </a:p>
          <a:p>
            <a:pPr>
              <a:spcAft>
                <a:spcPts val="500"/>
              </a:spcAft>
              <a:defRPr sz="1300">
                <a:solidFill>
                  <a:srgbClr val="272D34"/>
                </a:solidFill>
                <a:latin typeface="Aptos"/>
              </a:defRPr>
            </a:pPr>
            <a:r>
              <a:t>• Despite that surplus, 5 of 12 SKUs are below demand, while 4 are above the workbook's overstock threshold.</a:t>
            </a:r>
          </a:p>
          <a:p>
            <a:pPr>
              <a:spcAft>
                <a:spcPts val="500"/>
              </a:spcAft>
              <a:defRPr sz="1300">
                <a:solidFill>
                  <a:srgbClr val="272D34"/>
                </a:solidFill>
                <a:latin typeface="Aptos"/>
              </a:defRPr>
            </a:pPr>
            <a:r>
              <a:t>• The five stockout SKUs carry a combined deficit of 1,599 units, while four overstock SKUs hold 5,107 units of surplus.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126480" y="2971800"/>
          <a:ext cx="50749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172200" y="562356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5E91"/>
                </a:solidFill>
                <a:latin typeface="Aptos"/>
              </a:rPr>
              <a:t>Implication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5532120"/>
            <a:ext cx="4160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142A4A"/>
                </a:solidFill>
                <a:latin typeface="Aptos"/>
              </a:rPr>
              <a:t>The priority is not simply to hold more inventory. It is to place the right inventory against the right demand profile.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973"/>
                </a:solidFill>
                <a:latin typeface="Aptos"/>
              </a:rPr>
              <a:t>Inventory Policy Strategy | Portfolio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51052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42A4A"/>
                </a:solidFill>
                <a:latin typeface="Aptos"/>
              </a:rPr>
              <a:t>The core business issue is a mismatch between demand intensity and inventory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38428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5F6973"/>
                </a:solidFill>
                <a:latin typeface="Aptos"/>
              </a:rPr>
              <a:t>A SKU can be simultaneously critical or excessive depending on where available inventory sits relative to expected demand.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2331720" cy="109728"/>
          </a:xfrm>
          <a:prstGeom prst="rect">
            <a:avLst/>
          </a:prstGeom>
          <a:solidFill>
            <a:srgbClr val="2D5E91"/>
          </a:solidFill>
          <a:ln>
            <a:solidFill>
              <a:srgbClr val="2D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288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D5E91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847088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1920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5F6973"/>
                </a:solidFill>
                <a:latin typeface="Aptos"/>
              </a:rPr>
              <a:t>How much demand must the SKU cover?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D5E91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600200"/>
            <a:ext cx="2331720" cy="109728"/>
          </a:xfrm>
          <a:prstGeom prst="rect">
            <a:avLst/>
          </a:prstGeom>
          <a:solidFill>
            <a:srgbClr val="2C7779"/>
          </a:solidFill>
          <a:ln>
            <a:solidFill>
              <a:srgbClr val="2C7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8288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C7779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1847088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Inventory 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23160"/>
            <a:ext cx="1920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5F6973"/>
                </a:solidFill>
                <a:latin typeface="Aptos"/>
              </a:rPr>
              <a:t>Is available stock above or below demand?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D5E91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60020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600200"/>
            <a:ext cx="2331720" cy="109728"/>
          </a:xfrm>
          <a:prstGeom prst="rect">
            <a:avLst/>
          </a:prstGeom>
          <a:solidFill>
            <a:srgbClr val="C27D23"/>
          </a:solidFill>
          <a:ln>
            <a:solidFill>
              <a:srgbClr val="C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1" y="18288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27D23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1847088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Product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23160"/>
            <a:ext cx="1920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973"/>
                </a:solidFill>
                <a:latin typeface="Aptos"/>
              </a:rPr>
              <a:t>Is the item perishable and what inventory type applies?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7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D5E91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59" y="160020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52559" y="1600200"/>
            <a:ext cx="2331720" cy="109728"/>
          </a:xfrm>
          <a:prstGeom prst="rect">
            <a:avLst/>
          </a:prstGeom>
          <a:solidFill>
            <a:srgbClr val="4D845E"/>
          </a:solidFill>
          <a:ln>
            <a:solidFill>
              <a:srgbClr val="4D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17151" y="18288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D845E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9487" y="1847088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39" y="2423160"/>
            <a:ext cx="1920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973"/>
                </a:solidFill>
                <a:latin typeface="Aptos"/>
              </a:rPr>
              <a:t>What replenishment mechanism fits the risk?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093463"/>
            <a:ext cx="10698480" cy="1508760"/>
          </a:xfrm>
          <a:prstGeom prst="roundRect">
            <a:avLst/>
          </a:prstGeom>
          <a:solidFill>
            <a:srgbClr val="DEEBF7"/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2245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42A4A"/>
                </a:solidFill>
                <a:latin typeface="Aptos"/>
              </a:rPr>
              <a:t>Workbook decision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590288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2D34"/>
                </a:solidFill>
                <a:latin typeface="Aptos"/>
              </a:rPr>
              <a:t>Inventory status is driven by the gap ratio shown in the workbook: (Available − Demand) /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956048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D5E91"/>
                </a:solidFill>
                <a:latin typeface="Aptos"/>
              </a:rPr>
              <a:t>Overstock  &gt; 25%     |     Optimal  −5% to 25%     |     Stockout  &lt; −5%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266944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F6973"/>
                </a:solidFill>
                <a:latin typeface="Aptos"/>
              </a:rPr>
              <a:t>The policy layer then differentiates the response by demand level and perishability.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973"/>
                </a:solidFill>
                <a:latin typeface="Aptos"/>
              </a:rPr>
              <a:t>Inventory Policy Strategy | Portfolio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51052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42A4A"/>
                </a:solidFill>
                <a:latin typeface="Aptos"/>
              </a:rPr>
              <a:t>The </a:t>
            </a:r>
            <a:r>
              <a:rPr lang="en-US" sz="2500" b="1" dirty="0">
                <a:solidFill>
                  <a:srgbClr val="142A4A"/>
                </a:solidFill>
                <a:latin typeface="Aptos"/>
              </a:rPr>
              <a:t>workbook</a:t>
            </a:r>
            <a:r>
              <a:rPr sz="2500" b="1" dirty="0">
                <a:solidFill>
                  <a:srgbClr val="142A4A"/>
                </a:solidFill>
                <a:latin typeface="Aptos"/>
              </a:rPr>
              <a:t> supports four distinct policy archetypes rather than a one-size-fits-all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02295"/>
            <a:ext cx="1097280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150" dirty="0">
                <a:solidFill>
                  <a:srgbClr val="5F6973"/>
                </a:solidFill>
                <a:latin typeface="Aptos"/>
              </a:rPr>
              <a:t>Policy determination is systematic and depends on the type of demand, perishability, and inventory conditions</a:t>
            </a:r>
            <a:endParaRPr sz="1150" b="0" dirty="0">
              <a:solidFill>
                <a:srgbClr val="5F6973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166360" cy="1920240"/>
          </a:xfrm>
          <a:prstGeom prst="roundRect">
            <a:avLst/>
          </a:prstGeom>
          <a:solidFill>
            <a:srgbClr val="DEEB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920240"/>
          </a:xfrm>
          <a:prstGeom prst="rect">
            <a:avLst/>
          </a:prstGeom>
          <a:solidFill>
            <a:srgbClr val="2D5E91"/>
          </a:solidFill>
          <a:ln>
            <a:solidFill>
              <a:srgbClr val="2D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Reorder Point + EOQ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3736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D5E91"/>
                </a:solidFill>
                <a:latin typeface="Aptos"/>
              </a:rPr>
              <a:t>3 SKUs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1"/>
            <a:ext cx="1920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72D34"/>
                </a:solidFill>
                <a:latin typeface="Aptos"/>
              </a:rPr>
              <a:t>High demand
Non-perishable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94560"/>
            <a:ext cx="2697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5F6973"/>
                </a:solidFill>
                <a:latin typeface="Aptos"/>
              </a:rPr>
              <a:t>Use a defined reorder trigger and economic order quantity to balance availability with replenishment efficiency.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1920240"/>
          </a:xfrm>
          <a:prstGeom prst="roundRect">
            <a:avLst/>
          </a:prstGeom>
          <a:solidFill>
            <a:srgbClr val="E1F1F1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73152" cy="1920240"/>
          </a:xfrm>
          <a:prstGeom prst="rect">
            <a:avLst/>
          </a:prstGeom>
          <a:solidFill>
            <a:srgbClr val="2C7779"/>
          </a:solidFill>
          <a:ln>
            <a:solidFill>
              <a:srgbClr val="2C7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Safety Stock + FIFO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9" y="173736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C7779"/>
                </a:solidFill>
                <a:latin typeface="Aptos"/>
              </a:rPr>
              <a:t>2 SKUs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21991"/>
            <a:ext cx="1920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72D34"/>
                </a:solidFill>
                <a:latin typeface="Aptos"/>
              </a:rPr>
              <a:t>High demand
Perishable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94560"/>
            <a:ext cx="2697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5F6973"/>
                </a:solidFill>
                <a:latin typeface="Aptos"/>
              </a:rPr>
              <a:t>Protect service levels with buffer stock while using FIFO to reduce spoilage or obsolescence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49039"/>
            <a:ext cx="5166360" cy="1920240"/>
          </a:xfrm>
          <a:prstGeom prst="roundRect">
            <a:avLst/>
          </a:prstGeom>
          <a:solidFill>
            <a:srgbClr val="F8EBC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C27D23"/>
          </a:solidFill>
          <a:ln>
            <a:solidFill>
              <a:srgbClr val="C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Min-Max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977639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C27D23"/>
                </a:solidFill>
                <a:latin typeface="Aptos"/>
              </a:rPr>
              <a:t>4 SKUs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62272"/>
            <a:ext cx="1920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72D34"/>
                </a:solidFill>
                <a:latin typeface="Aptos"/>
              </a:rPr>
              <a:t>Low demand
Non-perishable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434840"/>
            <a:ext cx="2697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973"/>
                </a:solidFill>
                <a:latin typeface="Aptos"/>
              </a:rPr>
              <a:t>Control the replenishment band and prevent low-demand items from accumulating unnecessary stock.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49039"/>
            <a:ext cx="5166360" cy="1920240"/>
          </a:xfrm>
          <a:prstGeom prst="roundRect">
            <a:avLst/>
          </a:prstGeom>
          <a:solidFill>
            <a:srgbClr val="E2EFE4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3749039"/>
            <a:ext cx="73152" cy="1920240"/>
          </a:xfrm>
          <a:prstGeom prst="rect">
            <a:avLst/>
          </a:prstGeom>
          <a:solidFill>
            <a:srgbClr val="4D845E"/>
          </a:solidFill>
          <a:ln>
            <a:solidFill>
              <a:srgbClr val="4D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977639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JIT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9" y="3977639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4D845E"/>
                </a:solidFill>
                <a:latin typeface="Aptos"/>
              </a:rPr>
              <a:t>3 SKUs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462272"/>
            <a:ext cx="1920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72D34"/>
                </a:solidFill>
                <a:latin typeface="Aptos"/>
              </a:rPr>
              <a:t>Low demand
Perishable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434840"/>
            <a:ext cx="2697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973"/>
                </a:solidFill>
                <a:latin typeface="Aptos"/>
              </a:rPr>
              <a:t>Keep inventory lean and align supply closely with actual demand to limit waste and holding cost.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973"/>
                </a:solidFill>
                <a:latin typeface="Aptos"/>
              </a:rPr>
              <a:t>Inventory Policy Strategy | Portfolio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51052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42A4A"/>
                </a:solidFill>
                <a:latin typeface="Aptos"/>
              </a:rPr>
              <a:t>Stockout exposure is concentrated in a small set of SKUs, while surplus is concentrated elsewhere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5F6973"/>
                </a:solidFill>
                <a:latin typeface="Aptos"/>
              </a:rPr>
              <a:t>The contrast between the largest deficits and surpluses illustrates why aggregate inventory is a misleading KPI.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417320"/>
          <a:ext cx="534924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117043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A4A"/>
                </a:solidFill>
                <a:latin typeface="Aptos"/>
              </a:rPr>
              <a:t>Largest inventory deficits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72200" y="1417320"/>
          <a:ext cx="534924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1704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A4A"/>
                </a:solidFill>
                <a:latin typeface="Aptos"/>
              </a:rPr>
              <a:t>Largest inventory surpluses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806440"/>
            <a:ext cx="1051560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916168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dirty="0">
                <a:solidFill>
                  <a:srgbClr val="272D34"/>
                </a:solidFill>
                <a:latin typeface="Aptos"/>
              </a:rPr>
              <a:t>Two Fresh Packaged SKUs account for 972 units of deficit, while OY2545 and HB1016 together account for 5,107 units of surplus.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973"/>
                </a:solidFill>
                <a:latin typeface="Aptos"/>
              </a:rPr>
              <a:t>Inventory Policy Strategy | Portfolio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1052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9D82CCD3-32A3-4D34-B8EE-00558C1803E0}"/>
              </a:ext>
            </a:extLst>
          </p:cNvPr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demand SKUs are the clearest service-risk segment, with 60% classified as stockout</a:t>
            </a:r>
            <a:endParaRPr lang="en-US" sz="25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A0B59AF-1291-13CB-3118-BA2B608F4F10}"/>
              </a:ext>
            </a:extLst>
          </p:cNvPr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F69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five high  demand SKUs are either stockout or overstock, showing that demand intensity alone does not guarantee the right inventory position.</a:t>
            </a:r>
            <a:endParaRPr lang="en-US" sz="1150" dirty="0"/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E1A9F2EA-60C4-D1A2-F70A-B5C957415916}"/>
              </a:ext>
            </a:extLst>
          </p:cNvPr>
          <p:cNvGraphicFramePr/>
          <p:nvPr/>
        </p:nvGraphicFramePr>
        <p:xfrm>
          <a:off x="685800" y="1600200"/>
          <a:ext cx="5715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Shape 2">
            <a:extLst>
              <a:ext uri="{FF2B5EF4-FFF2-40B4-BE49-F238E27FC236}">
                <a16:creationId xmlns:a16="http://schemas.microsoft.com/office/drawing/2014/main" id="{C72F8C65-CA27-B6B6-BA01-CCA54D8AFED1}"/>
              </a:ext>
            </a:extLst>
          </p:cNvPr>
          <p:cNvSpPr/>
          <p:nvPr/>
        </p:nvSpPr>
        <p:spPr>
          <a:xfrm>
            <a:off x="6629400" y="1600200"/>
            <a:ext cx="4572000" cy="1234440"/>
          </a:xfrm>
          <a:prstGeom prst="roundRect">
            <a:avLst>
              <a:gd name="adj" fmla="val 4444"/>
            </a:avLst>
          </a:prstGeom>
          <a:solidFill>
            <a:srgbClr val="F8E1E1"/>
          </a:solidFill>
          <a:ln w="12700">
            <a:solidFill>
              <a:srgbClr val="D2D7DD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B0410BBB-A08D-AED4-DFD0-28DC8510B5CC}"/>
              </a:ext>
            </a:extLst>
          </p:cNvPr>
          <p:cNvSpPr/>
          <p:nvPr/>
        </p:nvSpPr>
        <p:spPr>
          <a:xfrm>
            <a:off x="6629400" y="1600200"/>
            <a:ext cx="54864" cy="1234440"/>
          </a:xfrm>
          <a:prstGeom prst="rect">
            <a:avLst/>
          </a:prstGeom>
          <a:solidFill>
            <a:srgbClr val="B33F3F"/>
          </a:solidFill>
          <a:ln w="12700">
            <a:solidFill>
              <a:srgbClr val="B33F3F"/>
            </a:solidFill>
            <a:prstDash val="solid"/>
          </a:ln>
        </p:spPr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C27BB4B-FA76-8C90-9DF6-53EA1A2B0E15}"/>
              </a:ext>
            </a:extLst>
          </p:cNvPr>
          <p:cNvSpPr txBox="1"/>
          <p:nvPr/>
        </p:nvSpPr>
        <p:spPr>
          <a:xfrm>
            <a:off x="685800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demand</a:t>
            </a:r>
            <a:endParaRPr lang="en-US" sz="13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CCFA2F1C-B83F-686D-9D13-B5170EA25747}"/>
              </a:ext>
            </a:extLst>
          </p:cNvPr>
          <p:cNvSpPr txBox="1"/>
          <p:nvPr/>
        </p:nvSpPr>
        <p:spPr>
          <a:xfrm>
            <a:off x="6858000" y="2057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3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 stockout</a:t>
            </a:r>
            <a:endParaRPr lang="en-US" sz="20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30D9481A-169A-7622-824F-2B8ADD2913D1}"/>
              </a:ext>
            </a:extLst>
          </p:cNvPr>
          <p:cNvSpPr txBox="1"/>
          <p:nvPr/>
        </p:nvSpPr>
        <p:spPr>
          <a:xfrm>
            <a:off x="6858000" y="2468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2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of 5 high-demand SKUs are below demand.</a:t>
            </a:r>
            <a:endParaRPr lang="en-US" sz="110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63E72DC1-D660-389E-0409-FE33C86E3707}"/>
              </a:ext>
            </a:extLst>
          </p:cNvPr>
          <p:cNvSpPr/>
          <p:nvPr/>
        </p:nvSpPr>
        <p:spPr>
          <a:xfrm>
            <a:off x="6629400" y="3035808"/>
            <a:ext cx="4572000" cy="1234440"/>
          </a:xfrm>
          <a:prstGeom prst="roundRect">
            <a:avLst>
              <a:gd name="adj" fmla="val 4444"/>
            </a:avLst>
          </a:prstGeom>
          <a:solidFill>
            <a:srgbClr val="E2EFE4"/>
          </a:solidFill>
          <a:ln w="12700">
            <a:solidFill>
              <a:srgbClr val="D2D7DD"/>
            </a:solidFill>
            <a:prstDash val="solid"/>
          </a:ln>
        </p:spPr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BB097290-BB0B-7A58-FC49-9AA6A5AA10F9}"/>
              </a:ext>
            </a:extLst>
          </p:cNvPr>
          <p:cNvSpPr/>
          <p:nvPr/>
        </p:nvSpPr>
        <p:spPr>
          <a:xfrm>
            <a:off x="6629400" y="3035808"/>
            <a:ext cx="54864" cy="1234440"/>
          </a:xfrm>
          <a:prstGeom prst="rect">
            <a:avLst/>
          </a:prstGeom>
          <a:solidFill>
            <a:srgbClr val="4D845E"/>
          </a:solidFill>
          <a:ln w="12700">
            <a:solidFill>
              <a:srgbClr val="4D845E"/>
            </a:solidFill>
            <a:prstDash val="solid"/>
          </a:ln>
        </p:spPr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17241139-546A-11CA-32CC-85695C20746B}"/>
              </a:ext>
            </a:extLst>
          </p:cNvPr>
          <p:cNvSpPr txBox="1"/>
          <p:nvPr/>
        </p:nvSpPr>
        <p:spPr>
          <a:xfrm>
            <a:off x="6858000" y="3172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demand</a:t>
            </a:r>
            <a:endParaRPr lang="en-US" sz="13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6F184FEB-DFA8-374C-1929-35AEC1C05FA2}"/>
              </a:ext>
            </a:extLst>
          </p:cNvPr>
          <p:cNvSpPr txBox="1"/>
          <p:nvPr/>
        </p:nvSpPr>
        <p:spPr>
          <a:xfrm>
            <a:off x="6858000" y="34930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D8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29% stockout</a:t>
            </a:r>
            <a:endParaRPr lang="en-US" sz="20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0A90898E-F318-E0F6-1398-9E4D92117801}"/>
              </a:ext>
            </a:extLst>
          </p:cNvPr>
          <p:cNvSpPr txBox="1"/>
          <p:nvPr/>
        </p:nvSpPr>
        <p:spPr>
          <a:xfrm>
            <a:off x="6858000" y="3904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2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of 7 low-demand SKUs are optimal.</a:t>
            </a:r>
            <a:endParaRPr lang="en-US" sz="110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773352AD-4572-6336-CA95-C631CC646A53}"/>
              </a:ext>
            </a:extLst>
          </p:cNvPr>
          <p:cNvSpPr/>
          <p:nvPr/>
        </p:nvSpPr>
        <p:spPr>
          <a:xfrm>
            <a:off x="6629400" y="4471416"/>
            <a:ext cx="4572000" cy="1837944"/>
          </a:xfrm>
          <a:prstGeom prst="roundRect">
            <a:avLst>
              <a:gd name="adj" fmla="val 2985"/>
            </a:avLst>
          </a:prstGeom>
          <a:solidFill>
            <a:srgbClr val="F2F4F7"/>
          </a:solidFill>
          <a:ln w="12700">
            <a:solidFill>
              <a:srgbClr val="D2D7DD"/>
            </a:solidFill>
            <a:prstDash val="solid"/>
          </a:ln>
        </p:spPr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8F98CE4F-1065-57B6-CB94-7C33D56013D6}"/>
              </a:ext>
            </a:extLst>
          </p:cNvPr>
          <p:cNvSpPr txBox="1"/>
          <p:nvPr/>
        </p:nvSpPr>
        <p:spPr>
          <a:xfrm>
            <a:off x="6858000" y="46360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what?</a:t>
            </a:r>
            <a:endParaRPr lang="en-US" sz="14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EB4B3BCA-384E-F4D7-F139-C4F95F1B3D95}"/>
              </a:ext>
            </a:extLst>
          </p:cNvPr>
          <p:cNvSpPr txBox="1"/>
          <p:nvPr/>
        </p:nvSpPr>
        <p:spPr>
          <a:xfrm>
            <a:off x="6858000" y="5001768"/>
            <a:ext cx="41148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20" dirty="0">
                <a:solidFill>
                  <a:srgbClr val="272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demand items warrant tighter replenishment control because service failures can affect a larger demand base. </a:t>
            </a:r>
            <a:endParaRPr lang="en-US" sz="112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20" dirty="0">
                <a:solidFill>
                  <a:srgbClr val="272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However, HB1016 and OY2545 show that high demand can also coexist with excess stock  the policy needs to respond to actual inventory position, not demand level alone.</a:t>
            </a:r>
            <a:endParaRPr lang="en-US" sz="112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828411EF-222D-5A60-217A-BBBD7E2D9D6A}"/>
              </a:ext>
            </a:extLst>
          </p:cNvPr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9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Policy Strategy | Portfolio Project</a:t>
            </a:r>
            <a:endParaRPr lang="en-US" sz="85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DAEBF8E0-6993-2F06-E85B-7C1F11D1F2DC}"/>
              </a:ext>
            </a:extLst>
          </p:cNvPr>
          <p:cNvSpPr txBox="1"/>
          <p:nvPr/>
        </p:nvSpPr>
        <p:spPr>
          <a:xfrm>
            <a:off x="11292840" y="65105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9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42A4A"/>
                </a:solidFill>
                <a:latin typeface="Aptos"/>
              </a:rPr>
              <a:t>The policy decision matrix links demand and perishability to the inventory</a:t>
            </a:r>
            <a:r>
              <a:rPr lang="en-US" sz="2500" b="1" dirty="0">
                <a:solidFill>
                  <a:srgbClr val="142A4A"/>
                </a:solidFill>
                <a:latin typeface="Aptos"/>
              </a:rPr>
              <a:t> </a:t>
            </a:r>
            <a:r>
              <a:rPr sz="2500" b="1" dirty="0">
                <a:solidFill>
                  <a:srgbClr val="142A4A"/>
                </a:solidFill>
                <a:latin typeface="Aptos"/>
              </a:rPr>
              <a:t>management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973"/>
                </a:solidFill>
                <a:latin typeface="Aptos"/>
              </a:rPr>
              <a:t>This matrix translates the workbook's policy assignments into an executive decision tool.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30352"/>
          </a:xfrm>
          <a:prstGeom prst="rect">
            <a:avLst/>
          </a:prstGeom>
          <a:solidFill>
            <a:srgbClr val="14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536192"/>
            <a:ext cx="14996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Demand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417320"/>
            <a:ext cx="2377440" cy="530352"/>
          </a:xfrm>
          <a:prstGeom prst="rect">
            <a:avLst/>
          </a:prstGeom>
          <a:solidFill>
            <a:srgbClr val="14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50592" y="1536192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Perishability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17320"/>
            <a:ext cx="2377440" cy="530352"/>
          </a:xfrm>
          <a:prstGeom prst="rect">
            <a:avLst/>
          </a:prstGeom>
          <a:solidFill>
            <a:srgbClr val="14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28032" y="1536192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Observed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417320"/>
            <a:ext cx="2377440" cy="530352"/>
          </a:xfrm>
          <a:prstGeom prst="rect">
            <a:avLst/>
          </a:prstGeom>
          <a:solidFill>
            <a:srgbClr val="14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5472" y="1536192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Workbook 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47672"/>
            <a:ext cx="16459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112264"/>
            <a:ext cx="149961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72D34"/>
                </a:solidFill>
                <a:latin typeface="Aptos"/>
              </a:rP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1947672"/>
            <a:ext cx="23774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50592" y="2112264"/>
            <a:ext cx="2231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72D34"/>
                </a:solidFill>
                <a:latin typeface="Aptos"/>
              </a:rPr>
              <a:t>Non-perishable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947672"/>
            <a:ext cx="23774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28032" y="2112264"/>
            <a:ext cx="2231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72D34"/>
                </a:solidFill>
                <a:latin typeface="Aptos"/>
              </a:rPr>
              <a:t>Stockout / Overstock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1947672"/>
            <a:ext cx="23774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05472" y="2112264"/>
            <a:ext cx="2231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D5E91"/>
                </a:solidFill>
                <a:latin typeface="Aptos"/>
              </a:rPr>
              <a:t>Reorder Point + EOQ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53512"/>
            <a:ext cx="1645920" cy="1005840"/>
          </a:xfrm>
          <a:prstGeom prst="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3118104"/>
            <a:ext cx="149961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72D34"/>
                </a:solidFill>
                <a:latin typeface="Aptos"/>
              </a:rP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2953512"/>
            <a:ext cx="2377440" cy="1005840"/>
          </a:xfrm>
          <a:prstGeom prst="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50592" y="3118104"/>
            <a:ext cx="2231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72D34"/>
                </a:solidFill>
                <a:latin typeface="Aptos"/>
              </a:rPr>
              <a:t>Perishable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953512"/>
            <a:ext cx="2377440" cy="1005840"/>
          </a:xfrm>
          <a:prstGeom prst="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28032" y="3118104"/>
            <a:ext cx="2231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72D34"/>
                </a:solidFill>
                <a:latin typeface="Aptos"/>
              </a:rPr>
              <a:t>Stockout / Overstock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2953512"/>
            <a:ext cx="2377440" cy="1005840"/>
          </a:xfrm>
          <a:prstGeom prst="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05472" y="3118104"/>
            <a:ext cx="2231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C7779"/>
                </a:solidFill>
                <a:latin typeface="Aptos"/>
              </a:rPr>
              <a:t>Safety Stock + FIFO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959352"/>
            <a:ext cx="16459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4123944"/>
            <a:ext cx="149961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72D34"/>
                </a:solidFill>
                <a:latin typeface="Aptos"/>
              </a:rPr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3959352"/>
            <a:ext cx="23774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50592" y="4123944"/>
            <a:ext cx="2231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72D34"/>
                </a:solidFill>
                <a:latin typeface="Aptos"/>
              </a:rPr>
              <a:t>Non-perishable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3959352"/>
            <a:ext cx="23774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28032" y="4123944"/>
            <a:ext cx="2231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72D34"/>
                </a:solidFill>
                <a:latin typeface="Aptos"/>
              </a:rPr>
              <a:t>Stockout / Optimal / Overstock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3959352"/>
            <a:ext cx="23774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05472" y="4123944"/>
            <a:ext cx="2231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C27D23"/>
                </a:solidFill>
                <a:latin typeface="Aptos"/>
              </a:rPr>
              <a:t>Min-Max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965192"/>
            <a:ext cx="1645920" cy="1005840"/>
          </a:xfrm>
          <a:prstGeom prst="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2" y="5129783"/>
            <a:ext cx="149961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72D34"/>
                </a:solidFill>
                <a:latin typeface="Aptos"/>
              </a:rPr>
              <a:t>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4965192"/>
            <a:ext cx="2377440" cy="1005840"/>
          </a:xfrm>
          <a:prstGeom prst="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450592" y="5129783"/>
            <a:ext cx="2231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72D34"/>
                </a:solidFill>
                <a:latin typeface="Aptos"/>
              </a:rPr>
              <a:t>Perishable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4965192"/>
            <a:ext cx="2377440" cy="1005840"/>
          </a:xfrm>
          <a:prstGeom prst="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28032" y="5129783"/>
            <a:ext cx="2231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72D34"/>
                </a:solidFill>
                <a:latin typeface="Aptos"/>
              </a:rPr>
              <a:t>Stockout / Optimal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4965192"/>
            <a:ext cx="2377440" cy="1005840"/>
          </a:xfrm>
          <a:prstGeom prst="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05472" y="5129783"/>
            <a:ext cx="2231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4D845E"/>
                </a:solidFill>
                <a:latin typeface="Aptos"/>
              </a:rPr>
              <a:t>JIT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715000"/>
            <a:ext cx="10744200" cy="530352"/>
          </a:xfrm>
          <a:prstGeom prst="round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0120" y="5843016"/>
            <a:ext cx="10287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42A4A"/>
                </a:solidFill>
                <a:latin typeface="Aptos"/>
              </a:rPr>
              <a:t>Decision principle: use the inventory status to determine urgency, then use demand and perishability to determine the replenishment mechanism.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973"/>
                </a:solidFill>
                <a:latin typeface="Aptos"/>
              </a:rPr>
              <a:t>Inventory Policy Strategy | Portfolio Project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51052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42A4A"/>
                </a:solidFill>
                <a:latin typeface="Aptos"/>
              </a:rPr>
              <a:t>Representative SKUs show how the same inventory problem requires different interventions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0703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5F6973"/>
                </a:solidFill>
                <a:latin typeface="Aptos"/>
              </a:rPr>
              <a:t>Four examples connect the data point to the operational diagnosis and the policy assigned in the workbook.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166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2011680"/>
          </a:xfrm>
          <a:prstGeom prst="rect">
            <a:avLst/>
          </a:prstGeom>
          <a:solidFill>
            <a:srgbClr val="B33F3F"/>
          </a:solidFill>
          <a:ln>
            <a:solidFill>
              <a:srgbClr val="B3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FP3055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8191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B33F3F"/>
                </a:solidFill>
                <a:latin typeface="Aptos"/>
              </a:rPr>
              <a:t>Stockout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973"/>
                </a:solidFill>
                <a:latin typeface="Aptos"/>
              </a:rPr>
              <a:t>HIGH | Non-perishable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1343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33F3F"/>
                </a:solidFill>
                <a:latin typeface="Aptos"/>
              </a:rPr>
              <a:t>-542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3134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2A4A"/>
                </a:solidFill>
                <a:latin typeface="Aptos"/>
              </a:rPr>
              <a:t>Reorder Point + EOQ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526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72D34"/>
                </a:solidFill>
                <a:latin typeface="Aptos"/>
              </a:rPr>
              <a:t>Available stock is 542 units below demand. Replenishment discipline is the primary response.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166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73152" cy="2011680"/>
          </a:xfrm>
          <a:prstGeom prst="rect">
            <a:avLst/>
          </a:prstGeom>
          <a:solidFill>
            <a:srgbClr val="C27D23"/>
          </a:solidFill>
          <a:ln>
            <a:solidFill>
              <a:srgbClr val="C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5819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OY2545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158191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C27D23"/>
                </a:solidFill>
                <a:latin typeface="Aptos"/>
              </a:rPr>
              <a:t>Overstock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8424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973"/>
                </a:solidFill>
                <a:latin typeface="Aptos"/>
              </a:rPr>
              <a:t>HIGH | Perishable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1343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C27D23"/>
                </a:solidFill>
                <a:latin typeface="Aptos"/>
              </a:rPr>
              <a:t>+2,455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3134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2A4A"/>
                </a:solidFill>
                <a:latin typeface="Aptos"/>
              </a:rPr>
              <a:t>Safety Stock + FIFO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4526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72D34"/>
                </a:solidFill>
                <a:latin typeface="Aptos"/>
              </a:rPr>
              <a:t>Surplus is 2,455 units. The perishable nature makes stock rotation and tighter stock buffers important.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49039"/>
            <a:ext cx="5166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749039"/>
            <a:ext cx="73152" cy="2011680"/>
          </a:xfrm>
          <a:prstGeom prst="rect">
            <a:avLst/>
          </a:prstGeom>
          <a:solidFill>
            <a:srgbClr val="B33F3F"/>
          </a:solidFill>
          <a:ln>
            <a:solidFill>
              <a:srgbClr val="B3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913631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OB1265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913631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B33F3F"/>
                </a:solidFill>
                <a:latin typeface="Aptos"/>
              </a:rPr>
              <a:t>Stockout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1596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973"/>
                </a:solidFill>
                <a:latin typeface="Aptos"/>
              </a:rPr>
              <a:t>LOW | Perishable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6451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B33F3F"/>
                </a:solidFill>
                <a:latin typeface="Aptos"/>
              </a:rPr>
              <a:t>-216 units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6451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2A4A"/>
                </a:solidFill>
                <a:latin typeface="Aptos"/>
              </a:rPr>
              <a:t>JIT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74920"/>
            <a:ext cx="4526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72D34"/>
                </a:solidFill>
                <a:latin typeface="Aptos"/>
              </a:rPr>
              <a:t>Demand is modest but available stock is only 38% of demand. Lean replenishment must still protect availability.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749039"/>
            <a:ext cx="5166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3749039"/>
            <a:ext cx="73152" cy="2011680"/>
          </a:xfrm>
          <a:prstGeom prst="rect">
            <a:avLst/>
          </a:prstGeom>
          <a:solidFill>
            <a:srgbClr val="C27D23"/>
          </a:solidFill>
          <a:ln>
            <a:solidFill>
              <a:srgbClr val="C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3913631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HT1064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913631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C27D23"/>
                </a:solidFill>
                <a:latin typeface="Aptos"/>
              </a:rPr>
              <a:t>Overstock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1596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973"/>
                </a:solidFill>
                <a:latin typeface="Aptos"/>
              </a:rPr>
              <a:t>LOW | Non-perishable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6451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C27D23"/>
                </a:solidFill>
                <a:latin typeface="Aptos"/>
              </a:rPr>
              <a:t>+137 units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6451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2A4A"/>
                </a:solidFill>
                <a:latin typeface="Aptos"/>
              </a:rPr>
              <a:t>Min-Max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074920"/>
            <a:ext cx="452628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272D34"/>
                </a:solidFill>
                <a:latin typeface="Aptos"/>
              </a:rPr>
              <a:t>A low</a:t>
            </a:r>
            <a:r>
              <a:rPr lang="en-US" sz="1050" b="0" dirty="0">
                <a:solidFill>
                  <a:srgbClr val="272D34"/>
                </a:solidFill>
                <a:latin typeface="Aptos"/>
              </a:rPr>
              <a:t> </a:t>
            </a:r>
            <a:r>
              <a:rPr sz="1050" b="0" dirty="0">
                <a:solidFill>
                  <a:srgbClr val="272D34"/>
                </a:solidFill>
                <a:latin typeface="Aptos"/>
              </a:rPr>
              <a:t>demand item carries surplus inventory. A bounded min-max range can prevent further accumulation.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973"/>
                </a:solidFill>
                <a:latin typeface="Aptos"/>
              </a:rPr>
              <a:t>Inventory Policy Strategy | Portfolio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51052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42A4A"/>
                </a:solidFill>
                <a:latin typeface="Aptos"/>
              </a:rPr>
              <a:t>Operationalize the policy through a closed</a:t>
            </a:r>
            <a:r>
              <a:rPr lang="en-US" sz="2500" b="1" dirty="0">
                <a:solidFill>
                  <a:srgbClr val="142A4A"/>
                </a:solidFill>
                <a:latin typeface="Aptos"/>
              </a:rPr>
              <a:t> </a:t>
            </a:r>
            <a:r>
              <a:rPr sz="2500" b="1" dirty="0">
                <a:solidFill>
                  <a:srgbClr val="142A4A"/>
                </a:solidFill>
                <a:latin typeface="Aptos"/>
              </a:rPr>
              <a:t>loop segmentation and monitoring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1015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5F6973"/>
                </a:solidFill>
                <a:latin typeface="Aptos"/>
              </a:rPr>
              <a:t>The recommended approach turns the workbook logic into a repeatable supply-chain management routine.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2057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63040"/>
            <a:ext cx="2057400" cy="109728"/>
          </a:xfrm>
          <a:prstGeom prst="rect">
            <a:avLst/>
          </a:prstGeom>
          <a:solidFill>
            <a:srgbClr val="2D5E91"/>
          </a:solidFill>
          <a:ln>
            <a:solidFill>
              <a:srgbClr val="2D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D5E91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64792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A"/>
                </a:solidFill>
                <a:latin typeface="Aptos"/>
              </a:rPr>
              <a:t>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31720"/>
            <a:ext cx="1737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973"/>
                </a:solidFill>
                <a:latin typeface="Aptos"/>
              </a:rPr>
              <a:t>Classify SKUs by demand, perishability, and inventory status.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1" y="2267712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D5E91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79" y="1463040"/>
            <a:ext cx="2057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79" y="1463040"/>
            <a:ext cx="2057400" cy="109728"/>
          </a:xfrm>
          <a:prstGeom prst="rect">
            <a:avLst/>
          </a:prstGeom>
          <a:solidFill>
            <a:srgbClr val="2C7779"/>
          </a:solidFill>
          <a:ln>
            <a:solidFill>
              <a:srgbClr val="2C7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39" y="173736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C7779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1764792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A"/>
                </a:solidFill>
                <a:latin typeface="Aptos"/>
              </a:rPr>
              <a:t>Assign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31720"/>
            <a:ext cx="1737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973"/>
                </a:solidFill>
                <a:latin typeface="Aptos"/>
              </a:rPr>
              <a:t>Map each segment to the appropriate replenishment mechanism.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2267712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D5E91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463040"/>
            <a:ext cx="2057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57800" y="1463040"/>
            <a:ext cx="2057400" cy="109728"/>
          </a:xfrm>
          <a:prstGeom prst="rect">
            <a:avLst/>
          </a:prstGeom>
          <a:solidFill>
            <a:srgbClr val="C27D23"/>
          </a:solidFill>
          <a:ln>
            <a:solidFill>
              <a:srgbClr val="C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4960" y="173736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27D23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1764792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A"/>
                </a:solidFill>
                <a:latin typeface="Aptos"/>
              </a:rPr>
              <a:t>Set parameters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2331720"/>
            <a:ext cx="1737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973"/>
                </a:solidFill>
                <a:latin typeface="Aptos"/>
              </a:rPr>
              <a:t>Define reorder points, min-max bands, safety stock, or JIT triggers.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1" y="2267712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D5E91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19" y="1463040"/>
            <a:ext cx="2057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89519" y="1463040"/>
            <a:ext cx="2057400" cy="109728"/>
          </a:xfrm>
          <a:prstGeom prst="rect">
            <a:avLst/>
          </a:prstGeom>
          <a:solidFill>
            <a:srgbClr val="4D845E"/>
          </a:solidFill>
          <a:ln>
            <a:solidFill>
              <a:srgbClr val="4D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79" y="173736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D845E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1764792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A"/>
                </a:solidFill>
                <a:latin typeface="Aptos"/>
              </a:rPr>
              <a:t>Monitor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1" y="2331720"/>
            <a:ext cx="1737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973"/>
                </a:solidFill>
                <a:latin typeface="Aptos"/>
              </a:rPr>
              <a:t>Track service, stock, and waste indicators by segment.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1" y="2267712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D5E91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21240" y="1463040"/>
            <a:ext cx="2057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21240" y="1463040"/>
            <a:ext cx="2057400" cy="109728"/>
          </a:xfrm>
          <a:prstGeom prst="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0" y="173736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A4A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1764792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A"/>
                </a:solidFill>
                <a:latin typeface="Aptos"/>
              </a:rPr>
              <a:t>Adjust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5832" y="2331720"/>
            <a:ext cx="1737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973"/>
                </a:solidFill>
                <a:latin typeface="Aptos"/>
              </a:rPr>
              <a:t>Refresh parameters as demand and inventory conditions change.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886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Management dashboard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315968"/>
            <a:ext cx="3383280" cy="658368"/>
          </a:xfrm>
          <a:prstGeom prst="round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0392" y="4425696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D5E91"/>
                </a:solidFill>
                <a:latin typeface="Aptos"/>
              </a:rPr>
              <a:t>Service level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442569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973"/>
                </a:solidFill>
                <a:latin typeface="Aptos"/>
              </a:rPr>
              <a:t>Protect availability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4315968"/>
            <a:ext cx="3383280" cy="658368"/>
          </a:xfrm>
          <a:prstGeom prst="round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53712" y="4425696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D5E91"/>
                </a:solidFill>
                <a:latin typeface="Aptos"/>
              </a:rPr>
              <a:t>Stockout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42569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973"/>
                </a:solidFill>
                <a:latin typeface="Aptos"/>
              </a:rPr>
              <a:t>Identify urgent gaps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4315968"/>
            <a:ext cx="3383280" cy="658368"/>
          </a:xfrm>
          <a:prstGeom prst="round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57031" y="4425696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D5E91"/>
                </a:solidFill>
                <a:latin typeface="Aptos"/>
              </a:rPr>
              <a:t>Excess inventory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442569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973"/>
                </a:solidFill>
                <a:latin typeface="Aptos"/>
              </a:rPr>
              <a:t>Reduce trapped working capital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184648"/>
            <a:ext cx="3383280" cy="658368"/>
          </a:xfrm>
          <a:prstGeom prst="round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0392" y="5294376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D5E91"/>
                </a:solidFill>
                <a:latin typeface="Aptos"/>
              </a:rPr>
              <a:t>Inventory turnover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7440" y="529437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973"/>
                </a:solidFill>
                <a:latin typeface="Aptos"/>
              </a:rPr>
              <a:t>Improve flow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0" y="5184648"/>
            <a:ext cx="3383280" cy="658368"/>
          </a:xfrm>
          <a:prstGeom prst="round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53712" y="5294376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D5E91"/>
                </a:solidFill>
                <a:latin typeface="Aptos"/>
              </a:rPr>
              <a:t>Waste / expiry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529437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973"/>
                </a:solidFill>
                <a:latin typeface="Aptos"/>
              </a:rPr>
              <a:t>Control perishability risk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5184648"/>
            <a:ext cx="3383280" cy="658368"/>
          </a:xfrm>
          <a:prstGeom prst="roundRect">
            <a:avLst/>
          </a:prstGeom>
          <a:solidFill>
            <a:srgbClr val="F2F4F7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57031" y="5294376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D5E91"/>
                </a:solidFill>
                <a:latin typeface="Aptos"/>
              </a:rPr>
              <a:t>Forecast accuracy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529437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973"/>
                </a:solidFill>
                <a:latin typeface="Aptos"/>
              </a:rPr>
              <a:t>Improve planning inputs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973"/>
                </a:solidFill>
                <a:latin typeface="Aptos"/>
              </a:rPr>
              <a:t>Inventory Policy Strategy | Portfolio Project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92840" y="651052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42A4A"/>
                </a:solidFill>
                <a:latin typeface="Aptos"/>
              </a:rPr>
              <a:t>The analysis is directionally strong, but data-quality issues limit deeper operational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5276"/>
            <a:ext cx="1097280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150" dirty="0">
                <a:solidFill>
                  <a:srgbClr val="5F6973"/>
                </a:solidFill>
                <a:latin typeface="Aptos"/>
              </a:rPr>
              <a:t>This presentation deliberately avoids claims that cannot be supported by the available data.</a:t>
            </a:r>
            <a:endParaRPr sz="1150" b="0" dirty="0">
              <a:solidFill>
                <a:srgbClr val="5F6973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3291840"/>
          </a:xfrm>
          <a:prstGeom prst="roundRect">
            <a:avLst/>
          </a:prstGeom>
          <a:solidFill>
            <a:srgbClr val="F8E1E1"/>
          </a:solidFill>
          <a:ln>
            <a:solidFill>
              <a:srgbClr val="F8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33F3F"/>
                </a:solidFill>
                <a:latin typeface="Aptos"/>
              </a:rPr>
              <a:t>Observed data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17720" cy="86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72D34"/>
                </a:solidFill>
                <a:latin typeface="Aptos"/>
              </a:defRPr>
            </a:pPr>
            <a:r>
              <a:rPr dirty="0"/>
              <a:t>• </a:t>
            </a:r>
            <a:r>
              <a:rPr lang="en-US" sz="1150" dirty="0">
                <a:solidFill>
                  <a:srgbClr val="272D34"/>
                </a:solidFill>
                <a:latin typeface="Aptos"/>
              </a:rPr>
              <a:t>No production schedule is currently available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150">
                <a:solidFill>
                  <a:srgbClr val="272D34"/>
                </a:solidFill>
                <a:latin typeface="Aptos"/>
              </a:defRPr>
            </a:pPr>
            <a:r>
              <a:rPr dirty="0"/>
              <a:t>• No service-level targets, lead times, ordering costs, holding costs, or SKU</a:t>
            </a:r>
            <a:r>
              <a:rPr lang="en-US" dirty="0"/>
              <a:t> </a:t>
            </a:r>
            <a:r>
              <a:rPr dirty="0"/>
              <a:t>level forecast error measures are available</a:t>
            </a:r>
            <a:r>
              <a:rPr lang="en-US" dirty="0"/>
              <a:t>.</a:t>
            </a:r>
            <a:r>
              <a:rPr dirty="0"/>
              <a:t> </a:t>
            </a:r>
            <a:r>
              <a:rPr lang="en-US" dirty="0"/>
              <a:t>S</a:t>
            </a:r>
            <a:r>
              <a:rPr dirty="0"/>
              <a:t>o EOQ and reorder-point parameters cannot be recalculated independently.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03520" cy="3291840"/>
          </a:xfrm>
          <a:prstGeom prst="roundRect">
            <a:avLst/>
          </a:prstGeom>
          <a:solidFill>
            <a:srgbClr val="E2EFE4"/>
          </a:solidFill>
          <a:ln>
            <a:solidFill>
              <a:srgbClr val="E2E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5397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4D845E"/>
                </a:solidFill>
                <a:latin typeface="Aptos"/>
              </a:rPr>
              <a:t>What can be concluded confidently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572000" cy="128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72D34"/>
                </a:solidFill>
                <a:latin typeface="Aptos"/>
              </a:defRPr>
            </a:pPr>
            <a:r>
              <a:rPr dirty="0"/>
              <a:t>• The 12</a:t>
            </a:r>
            <a:r>
              <a:rPr lang="en-US" dirty="0"/>
              <a:t> </a:t>
            </a:r>
            <a:r>
              <a:rPr dirty="0"/>
              <a:t>SKU</a:t>
            </a:r>
            <a:r>
              <a:rPr lang="en-US" dirty="0"/>
              <a:t>s</a:t>
            </a:r>
            <a:r>
              <a:rPr dirty="0"/>
              <a:t> inventory</a:t>
            </a:r>
            <a:r>
              <a:rPr lang="en-US" dirty="0"/>
              <a:t> </a:t>
            </a:r>
            <a:r>
              <a:rPr dirty="0"/>
              <a:t>policy table clearly defines demand type, perishability, inventory position, inventory status, and policy.</a:t>
            </a:r>
          </a:p>
          <a:p>
            <a:pPr>
              <a:spcAft>
                <a:spcPts val="500"/>
              </a:spcAft>
              <a:defRPr sz="1150">
                <a:solidFill>
                  <a:srgbClr val="272D34"/>
                </a:solidFill>
                <a:latin typeface="Aptos"/>
              </a:defRPr>
            </a:pPr>
            <a:r>
              <a:rPr dirty="0"/>
              <a:t>• The data demonstrates simultaneous stockout and overstock conditions, supporting a differentiated policy approach.</a:t>
            </a:r>
          </a:p>
          <a:p>
            <a:pPr>
              <a:spcAft>
                <a:spcPts val="500"/>
              </a:spcAft>
              <a:defRPr sz="1150">
                <a:solidFill>
                  <a:srgbClr val="272D34"/>
                </a:solidFill>
                <a:latin typeface="Aptos"/>
              </a:defRPr>
            </a:pPr>
            <a:r>
              <a:rPr dirty="0"/>
              <a:t>• The strongest portfolio story is therefore policy segmentation and inventory-position management, not a quantified savings claim.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973"/>
                </a:solidFill>
                <a:latin typeface="Aptos"/>
              </a:rPr>
              <a:t>Inventory Policy Strategy | Portfolio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052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EEBF7"/>
                </a:solidFill>
                <a:latin typeface="Aptos"/>
              </a:rPr>
              <a:t>MANAGEMENT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Move from one inventory target to a segmented policy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423160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DCE6F0"/>
                </a:solidFill>
                <a:latin typeface="Aptos"/>
              </a:rPr>
              <a:t>The workbook shows that inventory availability is not solved by simply increasing stock. The same portfolio contains material stockout deficits and concentrated surpluses.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794760"/>
            <a:ext cx="3337560" cy="1691640"/>
          </a:xfrm>
          <a:prstGeom prst="roundRect">
            <a:avLst/>
          </a:prstGeom>
          <a:solidFill>
            <a:srgbClr val="1F395B"/>
          </a:solidFill>
          <a:ln>
            <a:solidFill>
              <a:srgbClr val="425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402336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B33F3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404164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Prioritize service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4553712"/>
            <a:ext cx="2834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CDD9E7"/>
                </a:solidFill>
                <a:latin typeface="Aptos"/>
              </a:rPr>
              <a:t>Focus replenishment attention on the five stockout SKUs and especially high-demand gaps.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3794760"/>
            <a:ext cx="3337560" cy="1691640"/>
          </a:xfrm>
          <a:prstGeom prst="roundRect">
            <a:avLst/>
          </a:prstGeom>
          <a:solidFill>
            <a:srgbClr val="1F395B"/>
          </a:solidFill>
          <a:ln>
            <a:solidFill>
              <a:srgbClr val="425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7" y="402336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C7779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404164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Differentiate the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4553712"/>
            <a:ext cx="2834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CDD9E7"/>
                </a:solidFill>
                <a:latin typeface="Aptos"/>
              </a:rPr>
              <a:t>Use the workbook's four policy archetypes based on demand and perishability.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794760"/>
            <a:ext cx="3337560" cy="1691640"/>
          </a:xfrm>
          <a:prstGeom prst="roundRect">
            <a:avLst/>
          </a:prstGeom>
          <a:solidFill>
            <a:srgbClr val="1F395B"/>
          </a:solidFill>
          <a:ln>
            <a:solidFill>
              <a:srgbClr val="425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402336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27D23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1" y="404164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Close the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4553712"/>
            <a:ext cx="2834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dirty="0">
                <a:solidFill>
                  <a:srgbClr val="CDD9E7"/>
                </a:solidFill>
                <a:latin typeface="Aptos"/>
              </a:rPr>
              <a:t>Connect inventory policy to demand events, production planning, and recurring KPI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608076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dirty="0">
                <a:solidFill>
                  <a:srgbClr val="B4C6DA"/>
                </a:solidFill>
                <a:latin typeface="Aptos"/>
              </a:rPr>
              <a:t>Portfolio positioning: Supply Chain Analytics • Inventory Optimization • Data Visualization • Executive Communication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1272</Words>
  <Application>Microsoft Office PowerPoint</Application>
  <PresentationFormat>Widescreen</PresentationFormat>
  <Paragraphs>199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ASUS K16</cp:lastModifiedBy>
  <cp:revision>4</cp:revision>
  <dcterms:created xsi:type="dcterms:W3CDTF">2013-01-27T09:14:16Z</dcterms:created>
  <dcterms:modified xsi:type="dcterms:W3CDTF">2026-08-26T13:09:50Z</dcterms:modified>
  <cp:category/>
</cp:coreProperties>
</file>