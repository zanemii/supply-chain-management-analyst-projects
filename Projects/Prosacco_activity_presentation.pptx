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49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Units Ordered</c:v>
                </c:pt>
              </c:strCache>
            </c:strRef>
          </c:tx>
          <c:spPr>
            <a:solidFill>
              <a:srgbClr val="065A82"/>
            </a:solidFill>
            <a:effectLst/>
          </c:spPr>
          <c:invertIfNegative val="0"/>
          <c:dPt>
            <c:idx val="0"/>
            <c:invertIfNegative val="0"/>
            <c:bubble3D val="0"/>
            <c:extLst>
              <c:ext xmlns:c16="http://schemas.microsoft.com/office/drawing/2014/chart" uri="{C3380CC4-5D6E-409C-BE32-E72D297353CC}">
                <c16:uniqueId val="{00000001-ADEC-4EFE-A1B5-818F6715C0A0}"/>
              </c:ext>
            </c:extLst>
          </c:dPt>
          <c:dPt>
            <c:idx val="1"/>
            <c:invertIfNegative val="0"/>
            <c:bubble3D val="0"/>
            <c:extLst>
              <c:ext xmlns:c16="http://schemas.microsoft.com/office/drawing/2014/chart" uri="{C3380CC4-5D6E-409C-BE32-E72D297353CC}">
                <c16:uniqueId val="{00000003-ADEC-4EFE-A1B5-818F6715C0A0}"/>
              </c:ext>
            </c:extLst>
          </c:dPt>
          <c:dPt>
            <c:idx val="2"/>
            <c:invertIfNegative val="0"/>
            <c:bubble3D val="0"/>
            <c:spPr>
              <a:solidFill>
                <a:srgbClr val="C0392B"/>
              </a:solidFill>
              <a:effectLst/>
            </c:spPr>
            <c:extLst>
              <c:ext xmlns:c16="http://schemas.microsoft.com/office/drawing/2014/chart" uri="{C3380CC4-5D6E-409C-BE32-E72D297353CC}">
                <c16:uniqueId val="{00000005-ADEC-4EFE-A1B5-818F6715C0A0}"/>
              </c:ext>
            </c:extLst>
          </c:dPt>
          <c:dPt>
            <c:idx val="3"/>
            <c:invertIfNegative val="0"/>
            <c:bubble3D val="0"/>
            <c:extLst>
              <c:ext xmlns:c16="http://schemas.microsoft.com/office/drawing/2014/chart" uri="{C3380CC4-5D6E-409C-BE32-E72D297353CC}">
                <c16:uniqueId val="{00000007-ADEC-4EFE-A1B5-818F6715C0A0}"/>
              </c:ext>
            </c:extLst>
          </c:dPt>
          <c:dPt>
            <c:idx val="4"/>
            <c:invertIfNegative val="0"/>
            <c:bubble3D val="0"/>
            <c:extLst>
              <c:ext xmlns:c16="http://schemas.microsoft.com/office/drawing/2014/chart" uri="{C3380CC4-5D6E-409C-BE32-E72D297353CC}">
                <c16:uniqueId val="{00000009-ADEC-4EFE-A1B5-818F6715C0A0}"/>
              </c:ext>
            </c:extLst>
          </c:dPt>
          <c:dPt>
            <c:idx val="5"/>
            <c:invertIfNegative val="0"/>
            <c:bubble3D val="0"/>
            <c:extLst>
              <c:ext xmlns:c16="http://schemas.microsoft.com/office/drawing/2014/chart" uri="{C3380CC4-5D6E-409C-BE32-E72D297353CC}">
                <c16:uniqueId val="{0000000B-ADEC-4EFE-A1B5-818F6715C0A0}"/>
              </c:ext>
            </c:extLst>
          </c:dPt>
          <c:dPt>
            <c:idx val="6"/>
            <c:invertIfNegative val="0"/>
            <c:bubble3D val="0"/>
            <c:extLst>
              <c:ext xmlns:c16="http://schemas.microsoft.com/office/drawing/2014/chart" uri="{C3380CC4-5D6E-409C-BE32-E72D297353CC}">
                <c16:uniqueId val="{0000000D-ADEC-4EFE-A1B5-818F6715C0A0}"/>
              </c:ext>
            </c:extLst>
          </c:dPt>
          <c:dPt>
            <c:idx val="7"/>
            <c:invertIfNegative val="0"/>
            <c:bubble3D val="0"/>
            <c:extLst>
              <c:ext xmlns:c16="http://schemas.microsoft.com/office/drawing/2014/chart" uri="{C3380CC4-5D6E-409C-BE32-E72D297353CC}">
                <c16:uniqueId val="{0000000F-ADEC-4EFE-A1B5-818F6715C0A0}"/>
              </c:ext>
            </c:extLst>
          </c:dPt>
          <c:dPt>
            <c:idx val="8"/>
            <c:invertIfNegative val="0"/>
            <c:bubble3D val="0"/>
            <c:extLst>
              <c:ext xmlns:c16="http://schemas.microsoft.com/office/drawing/2014/chart" uri="{C3380CC4-5D6E-409C-BE32-E72D297353CC}">
                <c16:uniqueId val="{00000011-ADEC-4EFE-A1B5-818F6715C0A0}"/>
              </c:ext>
            </c:extLst>
          </c:dPt>
          <c:dPt>
            <c:idx val="9"/>
            <c:invertIfNegative val="0"/>
            <c:bubble3D val="0"/>
            <c:extLst>
              <c:ext xmlns:c16="http://schemas.microsoft.com/office/drawing/2014/chart" uri="{C3380CC4-5D6E-409C-BE32-E72D297353CC}">
                <c16:uniqueId val="{00000013-ADEC-4EFE-A1B5-818F6715C0A0}"/>
              </c:ext>
            </c:extLst>
          </c:dPt>
          <c:dPt>
            <c:idx val="10"/>
            <c:invertIfNegative val="0"/>
            <c:bubble3D val="0"/>
            <c:extLst>
              <c:ext xmlns:c16="http://schemas.microsoft.com/office/drawing/2014/chart" uri="{C3380CC4-5D6E-409C-BE32-E72D297353CC}">
                <c16:uniqueId val="{00000015-ADEC-4EFE-A1B5-818F6715C0A0}"/>
              </c:ext>
            </c:extLst>
          </c:dPt>
          <c:dPt>
            <c:idx val="11"/>
            <c:invertIfNegative val="0"/>
            <c:bubble3D val="0"/>
            <c:extLst>
              <c:ext xmlns:c16="http://schemas.microsoft.com/office/drawing/2014/chart" uri="{C3380CC4-5D6E-409C-BE32-E72D297353CC}">
                <c16:uniqueId val="{00000017-ADEC-4EFE-A1B5-818F6715C0A0}"/>
              </c:ext>
            </c:extLst>
          </c:dPt>
          <c:dLbls>
            <c:numFmt formatCode="#,##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HB1016</c:v>
                </c:pt>
                <c:pt idx="1">
                  <c:v>OY2545</c:v>
                </c:pt>
                <c:pt idx="2">
                  <c:v>FP2020</c:v>
                </c:pt>
                <c:pt idx="3">
                  <c:v>OP8025</c:v>
                </c:pt>
                <c:pt idx="4">
                  <c:v>FP3055</c:v>
                </c:pt>
                <c:pt idx="5">
                  <c:v>HT2054</c:v>
                </c:pt>
                <c:pt idx="6">
                  <c:v>OF2035</c:v>
                </c:pt>
                <c:pt idx="7">
                  <c:v>HB0156</c:v>
                </c:pt>
                <c:pt idx="8">
                  <c:v>HT1064</c:v>
                </c:pt>
                <c:pt idx="9">
                  <c:v>OB1265</c:v>
                </c:pt>
                <c:pt idx="10">
                  <c:v>HT1045</c:v>
                </c:pt>
                <c:pt idx="11">
                  <c:v>OF1060</c:v>
                </c:pt>
              </c:strCache>
            </c:strRef>
          </c:cat>
          <c:val>
            <c:numRef>
              <c:f>Sheet1!$B$2:$B$13</c:f>
              <c:numCache>
                <c:formatCode>General</c:formatCode>
                <c:ptCount val="12"/>
                <c:pt idx="0">
                  <c:v>29842</c:v>
                </c:pt>
                <c:pt idx="1">
                  <c:v>25498</c:v>
                </c:pt>
                <c:pt idx="2">
                  <c:v>24379</c:v>
                </c:pt>
                <c:pt idx="3">
                  <c:v>12440</c:v>
                </c:pt>
                <c:pt idx="4">
                  <c:v>12190</c:v>
                </c:pt>
                <c:pt idx="5">
                  <c:v>1124</c:v>
                </c:pt>
                <c:pt idx="6">
                  <c:v>1110</c:v>
                </c:pt>
                <c:pt idx="7">
                  <c:v>886</c:v>
                </c:pt>
                <c:pt idx="8">
                  <c:v>828</c:v>
                </c:pt>
                <c:pt idx="9">
                  <c:v>780</c:v>
                </c:pt>
                <c:pt idx="10">
                  <c:v>724</c:v>
                </c:pt>
                <c:pt idx="11">
                  <c:v>193</c:v>
                </c:pt>
              </c:numCache>
            </c:numRef>
          </c:val>
          <c:extLst>
            <c:ext xmlns:c16="http://schemas.microsoft.com/office/drawing/2014/chart" uri="{C3380CC4-5D6E-409C-BE32-E72D297353CC}">
              <c16:uniqueId val="{00000018-ADEC-4EFE-A1B5-818F6715C0A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Planned Production (units)</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0535-4F64-980C-07FE02230B09}"/>
              </c:ext>
            </c:extLst>
          </c:dPt>
          <c:dPt>
            <c:idx val="1"/>
            <c:invertIfNegative val="0"/>
            <c:bubble3D val="0"/>
            <c:extLst>
              <c:ext xmlns:c16="http://schemas.microsoft.com/office/drawing/2014/chart" uri="{C3380CC4-5D6E-409C-BE32-E72D297353CC}">
                <c16:uniqueId val="{00000003-0535-4F64-980C-07FE02230B09}"/>
              </c:ext>
            </c:extLst>
          </c:dPt>
          <c:dPt>
            <c:idx val="2"/>
            <c:invertIfNegative val="0"/>
            <c:bubble3D val="0"/>
            <c:extLst>
              <c:ext xmlns:c16="http://schemas.microsoft.com/office/drawing/2014/chart" uri="{C3380CC4-5D6E-409C-BE32-E72D297353CC}">
                <c16:uniqueId val="{00000005-0535-4F64-980C-07FE02230B09}"/>
              </c:ext>
            </c:extLst>
          </c:dPt>
          <c:dPt>
            <c:idx val="3"/>
            <c:invertIfNegative val="0"/>
            <c:bubble3D val="0"/>
            <c:spPr>
              <a:solidFill>
                <a:srgbClr val="065A82"/>
              </a:solidFill>
              <a:effectLst/>
            </c:spPr>
            <c:extLst>
              <c:ext xmlns:c16="http://schemas.microsoft.com/office/drawing/2014/chart" uri="{C3380CC4-5D6E-409C-BE32-E72D297353CC}">
                <c16:uniqueId val="{00000007-0535-4F64-980C-07FE02230B09}"/>
              </c:ext>
            </c:extLst>
          </c:dPt>
          <c:dPt>
            <c:idx val="4"/>
            <c:invertIfNegative val="0"/>
            <c:bubble3D val="0"/>
            <c:spPr>
              <a:solidFill>
                <a:srgbClr val="065A82"/>
              </a:solidFill>
              <a:effectLst/>
            </c:spPr>
            <c:extLst>
              <c:ext xmlns:c16="http://schemas.microsoft.com/office/drawing/2014/chart" uri="{C3380CC4-5D6E-409C-BE32-E72D297353CC}">
                <c16:uniqueId val="{00000009-0535-4F64-980C-07FE02230B09}"/>
              </c:ext>
            </c:extLst>
          </c:dPt>
          <c:dPt>
            <c:idx val="5"/>
            <c:invertIfNegative val="0"/>
            <c:bubble3D val="0"/>
            <c:spPr>
              <a:solidFill>
                <a:srgbClr val="065A82"/>
              </a:solidFill>
              <a:effectLst/>
            </c:spPr>
            <c:extLst>
              <c:ext xmlns:c16="http://schemas.microsoft.com/office/drawing/2014/chart" uri="{C3380CC4-5D6E-409C-BE32-E72D297353CC}">
                <c16:uniqueId val="{0000000B-0535-4F64-980C-07FE02230B09}"/>
              </c:ext>
            </c:extLst>
          </c:dPt>
          <c:dPt>
            <c:idx val="6"/>
            <c:invertIfNegative val="0"/>
            <c:bubble3D val="0"/>
            <c:spPr>
              <a:solidFill>
                <a:srgbClr val="065A82"/>
              </a:solidFill>
              <a:effectLst/>
            </c:spPr>
            <c:extLst>
              <c:ext xmlns:c16="http://schemas.microsoft.com/office/drawing/2014/chart" uri="{C3380CC4-5D6E-409C-BE32-E72D297353CC}">
                <c16:uniqueId val="{0000000D-0535-4F64-980C-07FE02230B09}"/>
              </c:ext>
            </c:extLst>
          </c:dPt>
          <c:dPt>
            <c:idx val="7"/>
            <c:invertIfNegative val="0"/>
            <c:bubble3D val="0"/>
            <c:spPr>
              <a:solidFill>
                <a:srgbClr val="065A82"/>
              </a:solidFill>
              <a:effectLst/>
            </c:spPr>
            <c:extLst>
              <c:ext xmlns:c16="http://schemas.microsoft.com/office/drawing/2014/chart" uri="{C3380CC4-5D6E-409C-BE32-E72D297353CC}">
                <c16:uniqueId val="{0000000F-0535-4F64-980C-07FE02230B09}"/>
              </c:ext>
            </c:extLst>
          </c:dPt>
          <c:dPt>
            <c:idx val="8"/>
            <c:invertIfNegative val="0"/>
            <c:bubble3D val="0"/>
            <c:spPr>
              <a:solidFill>
                <a:srgbClr val="065A82"/>
              </a:solidFill>
              <a:effectLst/>
            </c:spPr>
            <c:extLst>
              <c:ext xmlns:c16="http://schemas.microsoft.com/office/drawing/2014/chart" uri="{C3380CC4-5D6E-409C-BE32-E72D297353CC}">
                <c16:uniqueId val="{00000011-0535-4F64-980C-07FE02230B09}"/>
              </c:ext>
            </c:extLst>
          </c:dPt>
          <c:dPt>
            <c:idx val="9"/>
            <c:invertIfNegative val="0"/>
            <c:bubble3D val="0"/>
            <c:spPr>
              <a:solidFill>
                <a:srgbClr val="065A82"/>
              </a:solidFill>
              <a:effectLst/>
            </c:spPr>
            <c:extLst>
              <c:ext xmlns:c16="http://schemas.microsoft.com/office/drawing/2014/chart" uri="{C3380CC4-5D6E-409C-BE32-E72D297353CC}">
                <c16:uniqueId val="{00000013-0535-4F64-980C-07FE02230B09}"/>
              </c:ext>
            </c:extLst>
          </c:dPt>
          <c:dPt>
            <c:idx val="10"/>
            <c:invertIfNegative val="0"/>
            <c:bubble3D val="0"/>
            <c:spPr>
              <a:solidFill>
                <a:srgbClr val="065A82"/>
              </a:solidFill>
              <a:effectLst/>
            </c:spPr>
            <c:extLst>
              <c:ext xmlns:c16="http://schemas.microsoft.com/office/drawing/2014/chart" uri="{C3380CC4-5D6E-409C-BE32-E72D297353CC}">
                <c16:uniqueId val="{00000015-0535-4F64-980C-07FE02230B09}"/>
              </c:ext>
            </c:extLst>
          </c:dPt>
          <c:dPt>
            <c:idx val="11"/>
            <c:invertIfNegative val="0"/>
            <c:bubble3D val="0"/>
            <c:spPr>
              <a:solidFill>
                <a:srgbClr val="065A82"/>
              </a:solidFill>
              <a:effectLst/>
            </c:spPr>
            <c:extLst>
              <c:ext xmlns:c16="http://schemas.microsoft.com/office/drawing/2014/chart" uri="{C3380CC4-5D6E-409C-BE32-E72D297353CC}">
                <c16:uniqueId val="{00000017-0535-4F64-980C-07FE02230B09}"/>
              </c:ext>
            </c:extLst>
          </c:dPt>
          <c:dPt>
            <c:idx val="12"/>
            <c:invertIfNegative val="0"/>
            <c:bubble3D val="0"/>
            <c:spPr>
              <a:solidFill>
                <a:srgbClr val="065A82"/>
              </a:solidFill>
              <a:effectLst/>
            </c:spPr>
            <c:extLst>
              <c:ext xmlns:c16="http://schemas.microsoft.com/office/drawing/2014/chart" uri="{C3380CC4-5D6E-409C-BE32-E72D297353CC}">
                <c16:uniqueId val="{00000019-0535-4F64-980C-07FE02230B09}"/>
              </c:ext>
            </c:extLst>
          </c:dPt>
          <c:dLbls>
            <c:numFmt formatCode="#,##0"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W39</c:v>
                </c:pt>
                <c:pt idx="1">
                  <c:v>W40</c:v>
                </c:pt>
                <c:pt idx="2">
                  <c:v>W41</c:v>
                </c:pt>
                <c:pt idx="3">
                  <c:v>W42</c:v>
                </c:pt>
                <c:pt idx="4">
                  <c:v>W43</c:v>
                </c:pt>
                <c:pt idx="5">
                  <c:v>W44</c:v>
                </c:pt>
                <c:pt idx="6">
                  <c:v>W45</c:v>
                </c:pt>
                <c:pt idx="7">
                  <c:v>W46</c:v>
                </c:pt>
                <c:pt idx="8">
                  <c:v>W47</c:v>
                </c:pt>
                <c:pt idx="9">
                  <c:v>W48</c:v>
                </c:pt>
                <c:pt idx="10">
                  <c:v>W49</c:v>
                </c:pt>
                <c:pt idx="11">
                  <c:v>W50</c:v>
                </c:pt>
                <c:pt idx="12">
                  <c:v>W51</c:v>
                </c:pt>
              </c:strCache>
            </c:strRef>
          </c:cat>
          <c:val>
            <c:numRef>
              <c:f>Sheet1!$B$2:$B$14</c:f>
              <c:numCache>
                <c:formatCode>General</c:formatCode>
                <c:ptCount val="13"/>
                <c:pt idx="0">
                  <c:v>0</c:v>
                </c:pt>
                <c:pt idx="1">
                  <c:v>0</c:v>
                </c:pt>
                <c:pt idx="2">
                  <c:v>0</c:v>
                </c:pt>
                <c:pt idx="3">
                  <c:v>1000</c:v>
                </c:pt>
                <c:pt idx="4">
                  <c:v>3000</c:v>
                </c:pt>
                <c:pt idx="5">
                  <c:v>5000</c:v>
                </c:pt>
                <c:pt idx="6">
                  <c:v>2000</c:v>
                </c:pt>
                <c:pt idx="7">
                  <c:v>1000</c:v>
                </c:pt>
                <c:pt idx="8">
                  <c:v>3000</c:v>
                </c:pt>
                <c:pt idx="9">
                  <c:v>1000</c:v>
                </c:pt>
                <c:pt idx="10">
                  <c:v>1000</c:v>
                </c:pt>
                <c:pt idx="11">
                  <c:v>2000</c:v>
                </c:pt>
                <c:pt idx="12">
                  <c:v>2000</c:v>
                </c:pt>
              </c:numCache>
            </c:numRef>
          </c:val>
          <c:extLst>
            <c:ext xmlns:c16="http://schemas.microsoft.com/office/drawing/2014/chart" uri="{C3380CC4-5D6E-409C-BE32-E72D297353CC}">
              <c16:uniqueId val="{0000001A-0535-4F64-980C-07FE02230B09}"/>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Projected Final Inventory (units)</c:v>
                </c:pt>
              </c:strCache>
            </c:strRef>
          </c:tx>
          <c:spPr>
            <a:solidFill>
              <a:srgbClr val="1C7293"/>
            </a:solidFill>
            <a:effectLst/>
          </c:spPr>
          <c:invertIfNegative val="0"/>
          <c:dPt>
            <c:idx val="0"/>
            <c:invertIfNegative val="0"/>
            <c:bubble3D val="0"/>
            <c:extLst>
              <c:ext xmlns:c16="http://schemas.microsoft.com/office/drawing/2014/chart" uri="{C3380CC4-5D6E-409C-BE32-E72D297353CC}">
                <c16:uniqueId val="{00000001-1872-4853-9865-9F14D3BA821D}"/>
              </c:ext>
            </c:extLst>
          </c:dPt>
          <c:dPt>
            <c:idx val="1"/>
            <c:invertIfNegative val="0"/>
            <c:bubble3D val="0"/>
            <c:extLst>
              <c:ext xmlns:c16="http://schemas.microsoft.com/office/drawing/2014/chart" uri="{C3380CC4-5D6E-409C-BE32-E72D297353CC}">
                <c16:uniqueId val="{00000003-1872-4853-9865-9F14D3BA821D}"/>
              </c:ext>
            </c:extLst>
          </c:dPt>
          <c:dPt>
            <c:idx val="2"/>
            <c:invertIfNegative val="0"/>
            <c:bubble3D val="0"/>
            <c:spPr>
              <a:solidFill>
                <a:srgbClr val="C0392B"/>
              </a:solidFill>
              <a:effectLst/>
            </c:spPr>
            <c:extLst>
              <c:ext xmlns:c16="http://schemas.microsoft.com/office/drawing/2014/chart" uri="{C3380CC4-5D6E-409C-BE32-E72D297353CC}">
                <c16:uniqueId val="{00000005-1872-4853-9865-9F14D3BA821D}"/>
              </c:ext>
            </c:extLst>
          </c:dPt>
          <c:dPt>
            <c:idx val="3"/>
            <c:invertIfNegative val="0"/>
            <c:bubble3D val="0"/>
            <c:spPr>
              <a:solidFill>
                <a:srgbClr val="C0392B"/>
              </a:solidFill>
              <a:effectLst/>
            </c:spPr>
            <c:extLst>
              <c:ext xmlns:c16="http://schemas.microsoft.com/office/drawing/2014/chart" uri="{C3380CC4-5D6E-409C-BE32-E72D297353CC}">
                <c16:uniqueId val="{00000007-1872-4853-9865-9F14D3BA821D}"/>
              </c:ext>
            </c:extLst>
          </c:dPt>
          <c:dPt>
            <c:idx val="4"/>
            <c:invertIfNegative val="0"/>
            <c:bubble3D val="0"/>
            <c:extLst>
              <c:ext xmlns:c16="http://schemas.microsoft.com/office/drawing/2014/chart" uri="{C3380CC4-5D6E-409C-BE32-E72D297353CC}">
                <c16:uniqueId val="{00000009-1872-4853-9865-9F14D3BA821D}"/>
              </c:ext>
            </c:extLst>
          </c:dPt>
          <c:dPt>
            <c:idx val="5"/>
            <c:invertIfNegative val="0"/>
            <c:bubble3D val="0"/>
            <c:extLst>
              <c:ext xmlns:c16="http://schemas.microsoft.com/office/drawing/2014/chart" uri="{C3380CC4-5D6E-409C-BE32-E72D297353CC}">
                <c16:uniqueId val="{0000000B-1872-4853-9865-9F14D3BA821D}"/>
              </c:ext>
            </c:extLst>
          </c:dPt>
          <c:dPt>
            <c:idx val="6"/>
            <c:invertIfNegative val="0"/>
            <c:bubble3D val="0"/>
            <c:extLst>
              <c:ext xmlns:c16="http://schemas.microsoft.com/office/drawing/2014/chart" uri="{C3380CC4-5D6E-409C-BE32-E72D297353CC}">
                <c16:uniqueId val="{0000000D-1872-4853-9865-9F14D3BA821D}"/>
              </c:ext>
            </c:extLst>
          </c:dPt>
          <c:dPt>
            <c:idx val="7"/>
            <c:invertIfNegative val="0"/>
            <c:bubble3D val="0"/>
            <c:extLst>
              <c:ext xmlns:c16="http://schemas.microsoft.com/office/drawing/2014/chart" uri="{C3380CC4-5D6E-409C-BE32-E72D297353CC}">
                <c16:uniqueId val="{0000000F-1872-4853-9865-9F14D3BA821D}"/>
              </c:ext>
            </c:extLst>
          </c:dPt>
          <c:dPt>
            <c:idx val="8"/>
            <c:invertIfNegative val="0"/>
            <c:bubble3D val="0"/>
            <c:extLst>
              <c:ext xmlns:c16="http://schemas.microsoft.com/office/drawing/2014/chart" uri="{C3380CC4-5D6E-409C-BE32-E72D297353CC}">
                <c16:uniqueId val="{00000011-1872-4853-9865-9F14D3BA821D}"/>
              </c:ext>
            </c:extLst>
          </c:dPt>
          <c:dPt>
            <c:idx val="9"/>
            <c:invertIfNegative val="0"/>
            <c:bubble3D val="0"/>
            <c:extLst>
              <c:ext xmlns:c16="http://schemas.microsoft.com/office/drawing/2014/chart" uri="{C3380CC4-5D6E-409C-BE32-E72D297353CC}">
                <c16:uniqueId val="{00000013-1872-4853-9865-9F14D3BA821D}"/>
              </c:ext>
            </c:extLst>
          </c:dPt>
          <c:dPt>
            <c:idx val="10"/>
            <c:invertIfNegative val="0"/>
            <c:bubble3D val="0"/>
            <c:extLst>
              <c:ext xmlns:c16="http://schemas.microsoft.com/office/drawing/2014/chart" uri="{C3380CC4-5D6E-409C-BE32-E72D297353CC}">
                <c16:uniqueId val="{00000015-1872-4853-9865-9F14D3BA821D}"/>
              </c:ext>
            </c:extLst>
          </c:dPt>
          <c:dPt>
            <c:idx val="11"/>
            <c:invertIfNegative val="0"/>
            <c:bubble3D val="0"/>
            <c:extLst>
              <c:ext xmlns:c16="http://schemas.microsoft.com/office/drawing/2014/chart" uri="{C3380CC4-5D6E-409C-BE32-E72D297353CC}">
                <c16:uniqueId val="{00000017-1872-4853-9865-9F14D3BA821D}"/>
              </c:ext>
            </c:extLst>
          </c:dPt>
          <c:dPt>
            <c:idx val="12"/>
            <c:invertIfNegative val="0"/>
            <c:bubble3D val="0"/>
            <c:extLst>
              <c:ext xmlns:c16="http://schemas.microsoft.com/office/drawing/2014/chart" uri="{C3380CC4-5D6E-409C-BE32-E72D297353CC}">
                <c16:uniqueId val="{00000019-1872-4853-9865-9F14D3BA821D}"/>
              </c:ext>
            </c:extLst>
          </c:dPt>
          <c:dPt>
            <c:idx val="13"/>
            <c:invertIfNegative val="0"/>
            <c:bubble3D val="0"/>
            <c:extLst>
              <c:ext xmlns:c16="http://schemas.microsoft.com/office/drawing/2014/chart" uri="{C3380CC4-5D6E-409C-BE32-E72D297353CC}">
                <c16:uniqueId val="{0000001B-1872-4853-9865-9F14D3BA821D}"/>
              </c:ext>
            </c:extLst>
          </c:dPt>
          <c:dLbls>
            <c:numFmt formatCode="#,##0" sourceLinked="0"/>
            <c:spPr>
              <a:noFill/>
              <a:ln>
                <a:noFill/>
              </a:ln>
              <a:effectLst/>
            </c:spPr>
            <c:txPr>
              <a:bodyPr/>
              <a:lstStyle/>
              <a:p>
                <a:pPr>
                  <a:defRPr sz="95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W39</c:v>
                </c:pt>
                <c:pt idx="1">
                  <c:v>W40</c:v>
                </c:pt>
                <c:pt idx="2">
                  <c:v>W41</c:v>
                </c:pt>
                <c:pt idx="3">
                  <c:v>W42</c:v>
                </c:pt>
                <c:pt idx="4">
                  <c:v>W43</c:v>
                </c:pt>
                <c:pt idx="5">
                  <c:v>W44</c:v>
                </c:pt>
                <c:pt idx="6">
                  <c:v>W45</c:v>
                </c:pt>
                <c:pt idx="7">
                  <c:v>W46</c:v>
                </c:pt>
                <c:pt idx="8">
                  <c:v>W47</c:v>
                </c:pt>
                <c:pt idx="9">
                  <c:v>W48</c:v>
                </c:pt>
                <c:pt idx="10">
                  <c:v>W49</c:v>
                </c:pt>
                <c:pt idx="11">
                  <c:v>W50</c:v>
                </c:pt>
                <c:pt idx="12">
                  <c:v>W51</c:v>
                </c:pt>
                <c:pt idx="13">
                  <c:v>W52</c:v>
                </c:pt>
              </c:strCache>
            </c:strRef>
          </c:cat>
          <c:val>
            <c:numRef>
              <c:f>Sheet1!$B$2:$B$15</c:f>
              <c:numCache>
                <c:formatCode>General</c:formatCode>
                <c:ptCount val="14"/>
                <c:pt idx="0">
                  <c:v>4063</c:v>
                </c:pt>
                <c:pt idx="1">
                  <c:v>2677</c:v>
                </c:pt>
                <c:pt idx="2">
                  <c:v>-795</c:v>
                </c:pt>
                <c:pt idx="3">
                  <c:v>-1488</c:v>
                </c:pt>
                <c:pt idx="4">
                  <c:v>959</c:v>
                </c:pt>
                <c:pt idx="5">
                  <c:v>2127</c:v>
                </c:pt>
                <c:pt idx="6">
                  <c:v>2536</c:v>
                </c:pt>
                <c:pt idx="7">
                  <c:v>1278</c:v>
                </c:pt>
                <c:pt idx="8">
                  <c:v>2838</c:v>
                </c:pt>
                <c:pt idx="9">
                  <c:v>2350</c:v>
                </c:pt>
                <c:pt idx="10">
                  <c:v>1702</c:v>
                </c:pt>
                <c:pt idx="11">
                  <c:v>2049</c:v>
                </c:pt>
                <c:pt idx="12">
                  <c:v>2347</c:v>
                </c:pt>
                <c:pt idx="13">
                  <c:v>967</c:v>
                </c:pt>
              </c:numCache>
            </c:numRef>
          </c:val>
          <c:extLst>
            <c:ext xmlns:c16="http://schemas.microsoft.com/office/drawing/2014/chart" uri="{C3380CC4-5D6E-409C-BE32-E72D297353CC}">
              <c16:uniqueId val="{0000001C-1872-4853-9865-9F14D3BA821D}"/>
            </c:ext>
          </c:extLst>
        </c:ser>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Covered Sales ($)</c:v>
                </c:pt>
              </c:strCache>
            </c:strRef>
          </c:tx>
          <c:spPr>
            <a:solidFill>
              <a:srgbClr val="02C39A"/>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Week 41</c:v>
                </c:pt>
                <c:pt idx="1">
                  <c:v>Week 42</c:v>
                </c:pt>
              </c:strCache>
            </c:strRef>
          </c:cat>
          <c:val>
            <c:numRef>
              <c:f>Sheet1!$B$2:$B$3</c:f>
              <c:numCache>
                <c:formatCode>General</c:formatCode>
                <c:ptCount val="2"/>
                <c:pt idx="0">
                  <c:v>334625</c:v>
                </c:pt>
                <c:pt idx="1">
                  <c:v>125000</c:v>
                </c:pt>
              </c:numCache>
            </c:numRef>
          </c:val>
          <c:extLst>
            <c:ext xmlns:c16="http://schemas.microsoft.com/office/drawing/2014/chart" uri="{C3380CC4-5D6E-409C-BE32-E72D297353CC}">
              <c16:uniqueId val="{00000000-A6DA-451C-BAC8-2E06B6A1CA36}"/>
            </c:ext>
          </c:extLst>
        </c:ser>
        <c:ser>
          <c:idx val="1"/>
          <c:order val="1"/>
          <c:tx>
            <c:strRef>
              <c:f>Sheet1!$C$1</c:f>
              <c:strCache>
                <c:ptCount val="1"/>
                <c:pt idx="0">
                  <c:v>Uncovered Sales ($)</c:v>
                </c:pt>
              </c:strCache>
            </c:strRef>
          </c:tx>
          <c:spPr>
            <a:solidFill>
              <a:srgbClr val="C0392B"/>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Week 41</c:v>
                </c:pt>
                <c:pt idx="1">
                  <c:v>Week 42</c:v>
                </c:pt>
              </c:strCache>
            </c:strRef>
          </c:cat>
          <c:val>
            <c:numRef>
              <c:f>Sheet1!$C$2:$C$3</c:f>
              <c:numCache>
                <c:formatCode>General</c:formatCode>
                <c:ptCount val="2"/>
                <c:pt idx="0">
                  <c:v>99375</c:v>
                </c:pt>
                <c:pt idx="1">
                  <c:v>186000</c:v>
                </c:pt>
              </c:numCache>
            </c:numRef>
          </c:val>
          <c:extLst>
            <c:ext xmlns:c16="http://schemas.microsoft.com/office/drawing/2014/chart" uri="{C3380CC4-5D6E-409C-BE32-E72D297353CC}">
              <c16:uniqueId val="{00000001-A6DA-451C-BAC8-2E06B6A1CA36}"/>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 Impact ($)</c:v>
                </c:pt>
              </c:strCache>
            </c:strRef>
          </c:tx>
          <c:spPr>
            <a:solidFill>
              <a:srgbClr val="065A82"/>
            </a:solidFill>
            <a:effectLst/>
          </c:spPr>
          <c:invertIfNegative val="0"/>
          <c:dPt>
            <c:idx val="0"/>
            <c:invertIfNegative val="0"/>
            <c:bubble3D val="0"/>
            <c:spPr>
              <a:solidFill>
                <a:srgbClr val="065A82"/>
              </a:solidFill>
              <a:effectLst/>
            </c:spPr>
            <c:extLst>
              <c:ext xmlns:c16="http://schemas.microsoft.com/office/drawing/2014/chart" uri="{C3380CC4-5D6E-409C-BE32-E72D297353CC}">
                <c16:uniqueId val="{00000001-6016-41EA-8144-49636817F4D4}"/>
              </c:ext>
            </c:extLst>
          </c:dPt>
          <c:dPt>
            <c:idx val="1"/>
            <c:invertIfNegative val="0"/>
            <c:bubble3D val="0"/>
            <c:spPr>
              <a:solidFill>
                <a:srgbClr val="065A82"/>
              </a:solidFill>
              <a:effectLst/>
            </c:spPr>
            <c:extLst>
              <c:ext xmlns:c16="http://schemas.microsoft.com/office/drawing/2014/chart" uri="{C3380CC4-5D6E-409C-BE32-E72D297353CC}">
                <c16:uniqueId val="{00000003-6016-41EA-8144-49636817F4D4}"/>
              </c:ext>
            </c:extLst>
          </c:dPt>
          <c:dPt>
            <c:idx val="2"/>
            <c:invertIfNegative val="0"/>
            <c:bubble3D val="0"/>
            <c:spPr>
              <a:solidFill>
                <a:srgbClr val="065A82"/>
              </a:solidFill>
              <a:effectLst/>
            </c:spPr>
            <c:extLst>
              <c:ext xmlns:c16="http://schemas.microsoft.com/office/drawing/2014/chart" uri="{C3380CC4-5D6E-409C-BE32-E72D297353CC}">
                <c16:uniqueId val="{00000005-6016-41EA-8144-49636817F4D4}"/>
              </c:ext>
            </c:extLst>
          </c:dPt>
          <c:dPt>
            <c:idx val="3"/>
            <c:invertIfNegative val="0"/>
            <c:bubble3D val="0"/>
            <c:spPr>
              <a:solidFill>
                <a:srgbClr val="065A82"/>
              </a:solidFill>
              <a:effectLst/>
            </c:spPr>
            <c:extLst>
              <c:ext xmlns:c16="http://schemas.microsoft.com/office/drawing/2014/chart" uri="{C3380CC4-5D6E-409C-BE32-E72D297353CC}">
                <c16:uniqueId val="{00000007-6016-41EA-8144-49636817F4D4}"/>
              </c:ext>
            </c:extLst>
          </c:dPt>
          <c:dPt>
            <c:idx val="4"/>
            <c:invertIfNegative val="0"/>
            <c:bubble3D val="0"/>
            <c:spPr>
              <a:solidFill>
                <a:srgbClr val="065A82"/>
              </a:solidFill>
              <a:effectLst/>
            </c:spPr>
            <c:extLst>
              <c:ext xmlns:c16="http://schemas.microsoft.com/office/drawing/2014/chart" uri="{C3380CC4-5D6E-409C-BE32-E72D297353CC}">
                <c16:uniqueId val="{00000009-6016-41EA-8144-49636817F4D4}"/>
              </c:ext>
            </c:extLst>
          </c:dPt>
          <c:dPt>
            <c:idx val="5"/>
            <c:invertIfNegative val="0"/>
            <c:bubble3D val="0"/>
            <c:spPr>
              <a:solidFill>
                <a:srgbClr val="C0392B"/>
              </a:solidFill>
              <a:effectLst/>
            </c:spPr>
            <c:extLst>
              <c:ext xmlns:c16="http://schemas.microsoft.com/office/drawing/2014/chart" uri="{C3380CC4-5D6E-409C-BE32-E72D297353CC}">
                <c16:uniqueId val="{0000000B-6016-41EA-8144-49636817F4D4}"/>
              </c:ext>
            </c:extLst>
          </c:dPt>
          <c:dPt>
            <c:idx val="6"/>
            <c:invertIfNegative val="0"/>
            <c:bubble3D val="0"/>
            <c:spPr>
              <a:solidFill>
                <a:srgbClr val="065A82"/>
              </a:solidFill>
              <a:effectLst/>
            </c:spPr>
            <c:extLst>
              <c:ext xmlns:c16="http://schemas.microsoft.com/office/drawing/2014/chart" uri="{C3380CC4-5D6E-409C-BE32-E72D297353CC}">
                <c16:uniqueId val="{0000000D-6016-41EA-8144-49636817F4D4}"/>
              </c:ext>
            </c:extLst>
          </c:dPt>
          <c:dPt>
            <c:idx val="7"/>
            <c:invertIfNegative val="0"/>
            <c:bubble3D val="0"/>
            <c:spPr>
              <a:solidFill>
                <a:srgbClr val="02C39A"/>
              </a:solidFill>
              <a:effectLst/>
            </c:spPr>
            <c:extLst>
              <c:ext xmlns:c16="http://schemas.microsoft.com/office/drawing/2014/chart" uri="{C3380CC4-5D6E-409C-BE32-E72D297353CC}">
                <c16:uniqueId val="{0000000F-6016-41EA-8144-49636817F4D4}"/>
              </c:ext>
            </c:extLst>
          </c:dPt>
          <c:dLbls>
            <c:dLbl>
              <c:idx val="0"/>
              <c:layout>
                <c:manualLayout>
                  <c:x val="0"/>
                  <c:y val="-1.039292604736326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016-41EA-8144-49636817F4D4}"/>
                </c:ext>
              </c:extLst>
            </c:dLbl>
            <c:numFmt formatCode="\$#,##0"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Customer1</c:v>
                </c:pt>
                <c:pt idx="1">
                  <c:v>Customer2</c:v>
                </c:pt>
                <c:pt idx="2">
                  <c:v>Customer4</c:v>
                </c:pt>
                <c:pt idx="3">
                  <c:v>Customer3</c:v>
                </c:pt>
                <c:pt idx="4">
                  <c:v>Customer10</c:v>
                </c:pt>
                <c:pt idx="5">
                  <c:v>Customer8</c:v>
                </c:pt>
                <c:pt idx="6">
                  <c:v>Customer12</c:v>
                </c:pt>
                <c:pt idx="7">
                  <c:v>Customer5</c:v>
                </c:pt>
              </c:strCache>
            </c:strRef>
          </c:cat>
          <c:val>
            <c:numRef>
              <c:f>Sheet1!$B$2:$B$9</c:f>
              <c:numCache>
                <c:formatCode>General</c:formatCode>
                <c:ptCount val="8"/>
                <c:pt idx="0">
                  <c:v>131000</c:v>
                </c:pt>
                <c:pt idx="1">
                  <c:v>127625</c:v>
                </c:pt>
                <c:pt idx="2">
                  <c:v>7000</c:v>
                </c:pt>
                <c:pt idx="3">
                  <c:v>5500</c:v>
                </c:pt>
                <c:pt idx="4">
                  <c:v>4750</c:v>
                </c:pt>
                <c:pt idx="5">
                  <c:v>3750</c:v>
                </c:pt>
                <c:pt idx="6">
                  <c:v>3250</c:v>
                </c:pt>
                <c:pt idx="7">
                  <c:v>2500</c:v>
                </c:pt>
              </c:numCache>
            </c:numRef>
          </c:val>
          <c:extLst>
            <c:ext xmlns:c16="http://schemas.microsoft.com/office/drawing/2014/chart" uri="{C3380CC4-5D6E-409C-BE32-E72D297353CC}">
              <c16:uniqueId val="{00000010-6016-41EA-8144-49636817F4D4}"/>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6522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326880" y="-1645920"/>
            <a:ext cx="5029200" cy="5029200"/>
          </a:xfrm>
          <a:prstGeom prst="ellipse">
            <a:avLst/>
          </a:prstGeom>
          <a:solidFill>
            <a:srgbClr val="065A82">
              <a:alpha val="45000"/>
            </a:srgbClr>
          </a:solidFill>
          <a:ln/>
        </p:spPr>
      </p:sp>
      <p:sp>
        <p:nvSpPr>
          <p:cNvPr id="3" name="Shape 1"/>
          <p:cNvSpPr/>
          <p:nvPr/>
        </p:nvSpPr>
        <p:spPr>
          <a:xfrm>
            <a:off x="-1645920" y="4754880"/>
            <a:ext cx="4114800" cy="4114800"/>
          </a:xfrm>
          <a:prstGeom prst="ellipse">
            <a:avLst/>
          </a:prstGeom>
          <a:solidFill>
            <a:srgbClr val="1C7293">
              <a:alpha val="45000"/>
            </a:srgbClr>
          </a:solidFill>
          <a:ln/>
        </p:spPr>
      </p:sp>
      <p:sp>
        <p:nvSpPr>
          <p:cNvPr id="4" name="Text 2"/>
          <p:cNvSpPr/>
          <p:nvPr/>
        </p:nvSpPr>
        <p:spPr>
          <a:xfrm>
            <a:off x="640080" y="1280160"/>
            <a:ext cx="9144000" cy="365760"/>
          </a:xfrm>
          <a:prstGeom prst="rect">
            <a:avLst/>
          </a:prstGeom>
          <a:noFill/>
          <a:ln/>
        </p:spPr>
        <p:txBody>
          <a:bodyPr wrap="square" lIns="0" tIns="0" rIns="0" bIns="0" rtlCol="0" anchor="ctr"/>
          <a:lstStyle/>
          <a:p>
            <a:pPr marL="0" indent="0">
              <a:buNone/>
            </a:pPr>
            <a:r>
              <a:rPr lang="en-US" sz="1300" b="1" kern="0" spc="200" dirty="0">
                <a:solidFill>
                  <a:srgbClr val="9FB8D9"/>
                </a:solidFill>
                <a:latin typeface="Calibri" pitchFamily="34" charset="0"/>
                <a:ea typeface="Calibri" pitchFamily="34" charset="-122"/>
                <a:cs typeface="Calibri" pitchFamily="34" charset="-120"/>
              </a:rPr>
              <a:t>PROSACCO   |</a:t>
            </a:r>
            <a:endParaRPr lang="en-US" sz="1300" dirty="0"/>
          </a:p>
        </p:txBody>
      </p:sp>
      <p:sp>
        <p:nvSpPr>
          <p:cNvPr id="5" name="Text 3"/>
          <p:cNvSpPr/>
          <p:nvPr/>
        </p:nvSpPr>
        <p:spPr>
          <a:xfrm>
            <a:off x="640080" y="1783080"/>
            <a:ext cx="10698480" cy="19202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Managing the FP2020 Production Delay</a:t>
            </a:r>
            <a:endParaRPr lang="en-US" sz="3800" dirty="0"/>
          </a:p>
        </p:txBody>
      </p:sp>
      <p:sp>
        <p:nvSpPr>
          <p:cNvPr id="6" name="Text 4"/>
          <p:cNvSpPr/>
          <p:nvPr/>
        </p:nvSpPr>
        <p:spPr>
          <a:xfrm>
            <a:off x="640080" y="3977640"/>
            <a:ext cx="8778240" cy="100584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How a 3 weeks production gap on Fresh Packaged SKU FP2020 threatened $285K in October sales, and what it means for Prosacco's supply chain playbook.</a:t>
            </a:r>
            <a:endParaRPr lang="en-US" sz="1500" dirty="0"/>
          </a:p>
        </p:txBody>
      </p:sp>
      <p:sp>
        <p:nvSpPr>
          <p:cNvPr id="7" name="Shape 5"/>
          <p:cNvSpPr/>
          <p:nvPr/>
        </p:nvSpPr>
        <p:spPr>
          <a:xfrm>
            <a:off x="658368" y="5989320"/>
            <a:ext cx="2011680" cy="0"/>
          </a:xfrm>
          <a:prstGeom prst="line">
            <a:avLst/>
          </a:prstGeom>
          <a:noFill/>
          <a:ln w="31750">
            <a:solidFill>
              <a:srgbClr val="02C39A"/>
            </a:solidFill>
            <a:prstDash val="solid"/>
          </a:ln>
        </p:spPr>
      </p:sp>
      <p:sp>
        <p:nvSpPr>
          <p:cNvPr id="8" name="Text 6"/>
          <p:cNvSpPr/>
          <p:nvPr/>
        </p:nvSpPr>
        <p:spPr>
          <a:xfrm>
            <a:off x="640080" y="6126480"/>
            <a:ext cx="10515600" cy="36576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Prepared for: SCM Leadership   •   Period: October 2023 (Weeks 39–52)   •   Warehouse: Kern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Executive Summary</a:t>
            </a:r>
            <a:endParaRPr lang="en-US" sz="3000" dirty="0"/>
          </a:p>
        </p:txBody>
      </p:sp>
      <p:sp>
        <p:nvSpPr>
          <p:cNvPr id="3" name="Text 1"/>
          <p:cNvSpPr/>
          <p:nvPr/>
        </p:nvSpPr>
        <p:spPr>
          <a:xfrm>
            <a:off x="548640" y="914400"/>
            <a:ext cx="10881360" cy="45720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delayed production run for FP2020 left two October weeks under supplied, with measurable revenue and customer impact.</a:t>
            </a:r>
            <a:endParaRPr lang="en-US" sz="1400" dirty="0"/>
          </a:p>
        </p:txBody>
      </p:sp>
      <p:sp>
        <p:nvSpPr>
          <p:cNvPr id="4" name="Shape 2"/>
          <p:cNvSpPr/>
          <p:nvPr/>
        </p:nvSpPr>
        <p:spPr>
          <a:xfrm>
            <a:off x="548640" y="1874520"/>
            <a:ext cx="2542032" cy="2331720"/>
          </a:xfrm>
          <a:prstGeom prst="roundRect">
            <a:avLst>
              <a:gd name="adj" fmla="val 3529"/>
            </a:avLst>
          </a:prstGeom>
          <a:solidFill>
            <a:srgbClr val="FFFFFF"/>
          </a:solidFill>
          <a:ln w="12700">
            <a:solidFill>
              <a:srgbClr val="E3E8EE"/>
            </a:solidFill>
            <a:prstDash val="solid"/>
          </a:ln>
          <a:effectLst>
            <a:outerShdw blurRad="76200" dist="25400" dir="5400000" algn="bl" rotWithShape="0">
              <a:srgbClr val="999999">
                <a:alpha val="25000"/>
              </a:srgbClr>
            </a:outerShdw>
          </a:effectLst>
        </p:spPr>
      </p:sp>
      <p:sp>
        <p:nvSpPr>
          <p:cNvPr id="5" name="Shape 3"/>
          <p:cNvSpPr/>
          <p:nvPr/>
        </p:nvSpPr>
        <p:spPr>
          <a:xfrm>
            <a:off x="749808" y="2112264"/>
            <a:ext cx="457200" cy="73152"/>
          </a:xfrm>
          <a:prstGeom prst="rect">
            <a:avLst/>
          </a:prstGeom>
          <a:solidFill>
            <a:srgbClr val="065A82"/>
          </a:solidFill>
          <a:ln/>
        </p:spPr>
      </p:sp>
      <p:sp>
        <p:nvSpPr>
          <p:cNvPr id="6" name="Text 4"/>
          <p:cNvSpPr/>
          <p:nvPr/>
        </p:nvSpPr>
        <p:spPr>
          <a:xfrm>
            <a:off x="731520" y="2258568"/>
            <a:ext cx="2176272" cy="640080"/>
          </a:xfrm>
          <a:prstGeom prst="rect">
            <a:avLst/>
          </a:prstGeom>
          <a:noFill/>
          <a:ln/>
        </p:spPr>
        <p:txBody>
          <a:bodyPr wrap="square" lIns="0" tIns="0" rIns="0" bIns="0" rtlCol="0" anchor="ctr"/>
          <a:lstStyle/>
          <a:p>
            <a:pPr marL="0" indent="0">
              <a:buNone/>
            </a:pPr>
            <a:r>
              <a:rPr lang="en-US" sz="2500" b="1" dirty="0">
                <a:solidFill>
                  <a:srgbClr val="065A82"/>
                </a:solidFill>
                <a:latin typeface="Cambria" pitchFamily="34" charset="0"/>
                <a:ea typeface="Cambria" pitchFamily="34" charset="-122"/>
                <a:cs typeface="Cambria" pitchFamily="34" charset="-120"/>
              </a:rPr>
              <a:t>3 weeks</a:t>
            </a:r>
            <a:endParaRPr lang="en-US" sz="2500" dirty="0"/>
          </a:p>
        </p:txBody>
      </p:sp>
      <p:sp>
        <p:nvSpPr>
          <p:cNvPr id="7" name="Text 5"/>
          <p:cNvSpPr/>
          <p:nvPr/>
        </p:nvSpPr>
        <p:spPr>
          <a:xfrm>
            <a:off x="731520" y="2971800"/>
            <a:ext cx="2176272" cy="1097280"/>
          </a:xfrm>
          <a:prstGeom prst="rect">
            <a:avLst/>
          </a:prstGeom>
          <a:noFill/>
          <a:ln/>
        </p:spPr>
        <p:txBody>
          <a:bodyPr wrap="square" lIns="0" tIns="0" rIns="0" bIns="0" rtlCol="0" anchor="ctr"/>
          <a:lstStyle/>
          <a:p>
            <a:pPr marL="0" indent="0">
              <a:lnSpc>
                <a:spcPct val="115000"/>
              </a:lnSpc>
              <a:buNone/>
            </a:pPr>
            <a:r>
              <a:rPr lang="en-US" sz="1200" dirty="0">
                <a:solidFill>
                  <a:srgbClr val="1A1A2E"/>
                </a:solidFill>
                <a:latin typeface="Calibri" pitchFamily="34" charset="0"/>
                <a:ea typeface="Calibri" pitchFamily="34" charset="-122"/>
                <a:cs typeface="Calibri" pitchFamily="34" charset="-120"/>
              </a:rPr>
              <a:t>FP2020 production held at zero  weeks 39–41 before ramp  up began</a:t>
            </a:r>
            <a:endParaRPr lang="en-US" sz="1200" dirty="0"/>
          </a:p>
        </p:txBody>
      </p:sp>
      <p:sp>
        <p:nvSpPr>
          <p:cNvPr id="8" name="Shape 6"/>
          <p:cNvSpPr/>
          <p:nvPr/>
        </p:nvSpPr>
        <p:spPr>
          <a:xfrm>
            <a:off x="3346704" y="1874520"/>
            <a:ext cx="2542032" cy="2331720"/>
          </a:xfrm>
          <a:prstGeom prst="roundRect">
            <a:avLst>
              <a:gd name="adj" fmla="val 3529"/>
            </a:avLst>
          </a:prstGeom>
          <a:solidFill>
            <a:srgbClr val="FFFFFF"/>
          </a:solidFill>
          <a:ln w="12700">
            <a:solidFill>
              <a:srgbClr val="E3E8EE"/>
            </a:solidFill>
            <a:prstDash val="solid"/>
          </a:ln>
          <a:effectLst>
            <a:outerShdw blurRad="76200" dist="25400" dir="5400000" algn="bl" rotWithShape="0">
              <a:srgbClr val="999999">
                <a:alpha val="25000"/>
              </a:srgbClr>
            </a:outerShdw>
          </a:effectLst>
        </p:spPr>
      </p:sp>
      <p:sp>
        <p:nvSpPr>
          <p:cNvPr id="9" name="Shape 7"/>
          <p:cNvSpPr/>
          <p:nvPr/>
        </p:nvSpPr>
        <p:spPr>
          <a:xfrm>
            <a:off x="3547872" y="2112264"/>
            <a:ext cx="457200" cy="73152"/>
          </a:xfrm>
          <a:prstGeom prst="rect">
            <a:avLst/>
          </a:prstGeom>
          <a:solidFill>
            <a:srgbClr val="C0392B"/>
          </a:solidFill>
          <a:ln/>
        </p:spPr>
      </p:sp>
      <p:sp>
        <p:nvSpPr>
          <p:cNvPr id="10" name="Text 8"/>
          <p:cNvSpPr/>
          <p:nvPr/>
        </p:nvSpPr>
        <p:spPr>
          <a:xfrm>
            <a:off x="3529584" y="2258568"/>
            <a:ext cx="2176272" cy="640080"/>
          </a:xfrm>
          <a:prstGeom prst="rect">
            <a:avLst/>
          </a:prstGeom>
          <a:noFill/>
          <a:ln/>
        </p:spPr>
        <p:txBody>
          <a:bodyPr wrap="square" lIns="0" tIns="0" rIns="0" bIns="0" rtlCol="0" anchor="ctr"/>
          <a:lstStyle/>
          <a:p>
            <a:pPr marL="0" indent="0">
              <a:buNone/>
            </a:pPr>
            <a:r>
              <a:rPr lang="en-US" sz="2500" b="1" dirty="0">
                <a:solidFill>
                  <a:srgbClr val="C0392B"/>
                </a:solidFill>
                <a:latin typeface="Cambria" pitchFamily="34" charset="0"/>
                <a:ea typeface="Cambria" pitchFamily="34" charset="-122"/>
                <a:cs typeface="Cambria" pitchFamily="34" charset="-120"/>
              </a:rPr>
              <a:t>$285,375</a:t>
            </a:r>
            <a:endParaRPr lang="en-US" sz="2500" dirty="0"/>
          </a:p>
        </p:txBody>
      </p:sp>
      <p:sp>
        <p:nvSpPr>
          <p:cNvPr id="11" name="Text 9"/>
          <p:cNvSpPr/>
          <p:nvPr/>
        </p:nvSpPr>
        <p:spPr>
          <a:xfrm>
            <a:off x="3529584" y="2971800"/>
            <a:ext cx="2176272" cy="1097280"/>
          </a:xfrm>
          <a:prstGeom prst="rect">
            <a:avLst/>
          </a:prstGeom>
          <a:noFill/>
          <a:ln/>
        </p:spPr>
        <p:txBody>
          <a:bodyPr wrap="square" lIns="0" tIns="0" rIns="0" bIns="0" rtlCol="0" anchor="ctr"/>
          <a:lstStyle/>
          <a:p>
            <a:pPr marL="0" indent="0">
              <a:lnSpc>
                <a:spcPct val="115000"/>
              </a:lnSpc>
              <a:buNone/>
            </a:pPr>
            <a:r>
              <a:rPr lang="en-US" sz="1200" dirty="0">
                <a:solidFill>
                  <a:srgbClr val="1A1A2E"/>
                </a:solidFill>
                <a:latin typeface="Calibri" pitchFamily="34" charset="0"/>
                <a:ea typeface="Calibri" pitchFamily="34" charset="-122"/>
                <a:cs typeface="Calibri" pitchFamily="34" charset="-120"/>
              </a:rPr>
              <a:t>October FP2020 sales left uncovered across Weeks 41–42</a:t>
            </a:r>
            <a:endParaRPr lang="en-US" sz="1200" dirty="0"/>
          </a:p>
        </p:txBody>
      </p:sp>
      <p:sp>
        <p:nvSpPr>
          <p:cNvPr id="12" name="Shape 10"/>
          <p:cNvSpPr/>
          <p:nvPr/>
        </p:nvSpPr>
        <p:spPr>
          <a:xfrm>
            <a:off x="6144768" y="1874520"/>
            <a:ext cx="2542032" cy="2331720"/>
          </a:xfrm>
          <a:prstGeom prst="roundRect">
            <a:avLst>
              <a:gd name="adj" fmla="val 3529"/>
            </a:avLst>
          </a:prstGeom>
          <a:solidFill>
            <a:srgbClr val="FFFFFF"/>
          </a:solidFill>
          <a:ln w="12700">
            <a:solidFill>
              <a:srgbClr val="E3E8EE"/>
            </a:solidFill>
            <a:prstDash val="solid"/>
          </a:ln>
          <a:effectLst>
            <a:outerShdw blurRad="76200" dist="25400" dir="5400000" algn="bl" rotWithShape="0">
              <a:srgbClr val="999999">
                <a:alpha val="25000"/>
              </a:srgbClr>
            </a:outerShdw>
          </a:effectLst>
        </p:spPr>
      </p:sp>
      <p:sp>
        <p:nvSpPr>
          <p:cNvPr id="13" name="Shape 11"/>
          <p:cNvSpPr/>
          <p:nvPr/>
        </p:nvSpPr>
        <p:spPr>
          <a:xfrm>
            <a:off x="6345936" y="2112264"/>
            <a:ext cx="457200" cy="73152"/>
          </a:xfrm>
          <a:prstGeom prst="rect">
            <a:avLst/>
          </a:prstGeom>
          <a:solidFill>
            <a:srgbClr val="1C7293"/>
          </a:solidFill>
          <a:ln/>
        </p:spPr>
      </p:sp>
      <p:sp>
        <p:nvSpPr>
          <p:cNvPr id="14" name="Text 12"/>
          <p:cNvSpPr/>
          <p:nvPr/>
        </p:nvSpPr>
        <p:spPr>
          <a:xfrm>
            <a:off x="6327648" y="2258568"/>
            <a:ext cx="2176272" cy="640080"/>
          </a:xfrm>
          <a:prstGeom prst="rect">
            <a:avLst/>
          </a:prstGeom>
          <a:noFill/>
          <a:ln/>
        </p:spPr>
        <p:txBody>
          <a:bodyPr wrap="square" lIns="0" tIns="0" rIns="0" bIns="0" rtlCol="0" anchor="ctr"/>
          <a:lstStyle/>
          <a:p>
            <a:pPr marL="0" indent="0">
              <a:buNone/>
            </a:pPr>
            <a:r>
              <a:rPr lang="en-US" sz="2500" b="1" dirty="0">
                <a:solidFill>
                  <a:srgbClr val="1C7293"/>
                </a:solidFill>
                <a:latin typeface="Cambria" pitchFamily="34" charset="0"/>
                <a:ea typeface="Cambria" pitchFamily="34" charset="-122"/>
                <a:cs typeface="Cambria" pitchFamily="34" charset="-120"/>
              </a:rPr>
              <a:t>22%</a:t>
            </a:r>
            <a:endParaRPr lang="en-US" sz="2500" dirty="0"/>
          </a:p>
        </p:txBody>
      </p:sp>
      <p:sp>
        <p:nvSpPr>
          <p:cNvPr id="15" name="Text 13"/>
          <p:cNvSpPr/>
          <p:nvPr/>
        </p:nvSpPr>
        <p:spPr>
          <a:xfrm>
            <a:off x="6327648" y="2971800"/>
            <a:ext cx="2176272" cy="1097280"/>
          </a:xfrm>
          <a:prstGeom prst="rect">
            <a:avLst/>
          </a:prstGeom>
          <a:noFill/>
          <a:ln/>
        </p:spPr>
        <p:txBody>
          <a:bodyPr wrap="square" lIns="0" tIns="0" rIns="0" bIns="0" rtlCol="0" anchor="ctr"/>
          <a:lstStyle/>
          <a:p>
            <a:pPr marL="0" indent="0">
              <a:lnSpc>
                <a:spcPct val="115000"/>
              </a:lnSpc>
              <a:buNone/>
            </a:pPr>
            <a:r>
              <a:rPr lang="en-US" sz="1200" dirty="0">
                <a:solidFill>
                  <a:srgbClr val="1A1A2E"/>
                </a:solidFill>
                <a:latin typeface="Calibri" pitchFamily="34" charset="0"/>
                <a:ea typeface="Calibri" pitchFamily="34" charset="-122"/>
                <a:cs typeface="Calibri" pitchFamily="34" charset="-120"/>
              </a:rPr>
              <a:t>Share of FP2020’s October dollar demand that went unmet</a:t>
            </a:r>
            <a:endParaRPr lang="en-US" sz="1200" dirty="0"/>
          </a:p>
        </p:txBody>
      </p:sp>
      <p:sp>
        <p:nvSpPr>
          <p:cNvPr id="16" name="Shape 14"/>
          <p:cNvSpPr/>
          <p:nvPr/>
        </p:nvSpPr>
        <p:spPr>
          <a:xfrm>
            <a:off x="8942832" y="1874520"/>
            <a:ext cx="2542032" cy="2331720"/>
          </a:xfrm>
          <a:prstGeom prst="roundRect">
            <a:avLst>
              <a:gd name="adj" fmla="val 3529"/>
            </a:avLst>
          </a:prstGeom>
          <a:solidFill>
            <a:srgbClr val="FFFFFF"/>
          </a:solidFill>
          <a:ln w="12700">
            <a:solidFill>
              <a:srgbClr val="E3E8EE"/>
            </a:solidFill>
            <a:prstDash val="solid"/>
          </a:ln>
          <a:effectLst>
            <a:outerShdw blurRad="76200" dist="25400" dir="5400000" algn="bl" rotWithShape="0">
              <a:srgbClr val="999999">
                <a:alpha val="25000"/>
              </a:srgbClr>
            </a:outerShdw>
          </a:effectLst>
        </p:spPr>
      </p:sp>
      <p:sp>
        <p:nvSpPr>
          <p:cNvPr id="17" name="Shape 15"/>
          <p:cNvSpPr/>
          <p:nvPr/>
        </p:nvSpPr>
        <p:spPr>
          <a:xfrm>
            <a:off x="9144000" y="2112264"/>
            <a:ext cx="457200" cy="73152"/>
          </a:xfrm>
          <a:prstGeom prst="rect">
            <a:avLst/>
          </a:prstGeom>
          <a:solidFill>
            <a:srgbClr val="21295C"/>
          </a:solidFill>
          <a:ln/>
        </p:spPr>
      </p:sp>
      <p:sp>
        <p:nvSpPr>
          <p:cNvPr id="18" name="Text 16"/>
          <p:cNvSpPr/>
          <p:nvPr/>
        </p:nvSpPr>
        <p:spPr>
          <a:xfrm>
            <a:off x="9125712" y="2258568"/>
            <a:ext cx="2176272" cy="640080"/>
          </a:xfrm>
          <a:prstGeom prst="rect">
            <a:avLst/>
          </a:prstGeom>
          <a:noFill/>
          <a:ln/>
        </p:spPr>
        <p:txBody>
          <a:bodyPr wrap="square" lIns="0" tIns="0" rIns="0" bIns="0" rtlCol="0" anchor="ctr"/>
          <a:lstStyle/>
          <a:p>
            <a:pPr marL="0" indent="0">
              <a:buNone/>
            </a:pPr>
            <a:r>
              <a:rPr lang="en-US" sz="2500" b="1" dirty="0">
                <a:solidFill>
                  <a:srgbClr val="21295C"/>
                </a:solidFill>
                <a:latin typeface="Cambria" pitchFamily="34" charset="0"/>
                <a:ea typeface="Cambria" pitchFamily="34" charset="-122"/>
                <a:cs typeface="Cambria" pitchFamily="34" charset="-120"/>
              </a:rPr>
              <a:t>8 customers</a:t>
            </a:r>
            <a:endParaRPr lang="en-US" sz="2500" dirty="0"/>
          </a:p>
        </p:txBody>
      </p:sp>
      <p:sp>
        <p:nvSpPr>
          <p:cNvPr id="19" name="Text 17"/>
          <p:cNvSpPr/>
          <p:nvPr/>
        </p:nvSpPr>
        <p:spPr>
          <a:xfrm>
            <a:off x="9125712" y="2971800"/>
            <a:ext cx="2176272" cy="1097280"/>
          </a:xfrm>
          <a:prstGeom prst="rect">
            <a:avLst/>
          </a:prstGeom>
          <a:noFill/>
          <a:ln/>
        </p:spPr>
        <p:txBody>
          <a:bodyPr wrap="square" lIns="0" tIns="0" rIns="0" bIns="0" rtlCol="0" anchor="ctr"/>
          <a:lstStyle/>
          <a:p>
            <a:pPr marL="0" indent="0">
              <a:lnSpc>
                <a:spcPct val="115000"/>
              </a:lnSpc>
              <a:buNone/>
            </a:pPr>
            <a:r>
              <a:rPr lang="en-US" sz="1200" dirty="0">
                <a:solidFill>
                  <a:srgbClr val="1A1A2E"/>
                </a:solidFill>
                <a:latin typeface="Calibri" pitchFamily="34" charset="0"/>
                <a:ea typeface="Calibri" pitchFamily="34" charset="-122"/>
                <a:cs typeface="Calibri" pitchFamily="34" charset="-120"/>
              </a:rPr>
              <a:t>Accounts affected, from 1% to 60% of their FP2020 orders</a:t>
            </a:r>
            <a:endParaRPr lang="en-US" sz="1200" dirty="0"/>
          </a:p>
        </p:txBody>
      </p:sp>
      <p:sp>
        <p:nvSpPr>
          <p:cNvPr id="20" name="Shape 18"/>
          <p:cNvSpPr/>
          <p:nvPr/>
        </p:nvSpPr>
        <p:spPr>
          <a:xfrm>
            <a:off x="548640" y="4480560"/>
            <a:ext cx="10881360" cy="1417320"/>
          </a:xfrm>
          <a:prstGeom prst="roundRect">
            <a:avLst>
              <a:gd name="adj" fmla="val 5161"/>
            </a:avLst>
          </a:prstGeom>
          <a:solidFill>
            <a:srgbClr val="EAF1F7"/>
          </a:solidFill>
          <a:ln/>
        </p:spPr>
      </p:sp>
      <p:sp>
        <p:nvSpPr>
          <p:cNvPr id="21" name="Text 19"/>
          <p:cNvSpPr/>
          <p:nvPr/>
        </p:nvSpPr>
        <p:spPr>
          <a:xfrm>
            <a:off x="868680" y="4480560"/>
            <a:ext cx="10241280" cy="1417320"/>
          </a:xfrm>
          <a:prstGeom prst="rect">
            <a:avLst/>
          </a:prstGeom>
          <a:noFill/>
          <a:ln/>
        </p:spPr>
        <p:txBody>
          <a:bodyPr wrap="square" lIns="0" tIns="0" rIns="0" bIns="0" rtlCol="0" anchor="ctr"/>
          <a:lstStyle/>
          <a:p>
            <a:pPr marL="0" indent="0">
              <a:buNone/>
            </a:pPr>
            <a:r>
              <a:rPr lang="en-US" sz="1350" i="1" dirty="0">
                <a:solidFill>
                  <a:srgbClr val="1A1A2E"/>
                </a:solidFill>
                <a:latin typeface="Calibri" pitchFamily="34" charset="0"/>
                <a:ea typeface="Calibri" pitchFamily="34" charset="-122"/>
                <a:cs typeface="Calibri" pitchFamily="34" charset="-120"/>
              </a:rPr>
              <a:t>The story ahead, what Prosacco's order book looked like going in, where the production plan broke, how the shortfall rippled through inventory and sales, who felt it most, and how to prevent a repeat.</a:t>
            </a:r>
            <a:endParaRPr lang="en-US" sz="1350" dirty="0"/>
          </a:p>
        </p:txBody>
      </p:sp>
      <p:sp>
        <p:nvSpPr>
          <p:cNvPr id="22" name="Text 20"/>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23" name="Text 21"/>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The Starting Point: A Busy Order Book</a:t>
            </a:r>
            <a:endParaRPr lang="en-US" sz="2800" dirty="0"/>
          </a:p>
        </p:txBody>
      </p:sp>
      <p:sp>
        <p:nvSpPr>
          <p:cNvPr id="3" name="Text 1"/>
          <p:cNvSpPr/>
          <p:nvPr/>
        </p:nvSpPr>
        <p:spPr>
          <a:xfrm>
            <a:off x="548640" y="960120"/>
            <a:ext cx="6492240" cy="1371600"/>
          </a:xfrm>
          <a:prstGeom prst="rect">
            <a:avLst/>
          </a:prstGeom>
          <a:noFill/>
          <a:ln/>
        </p:spPr>
        <p:txBody>
          <a:bodyPr wrap="square" lIns="0" tIns="0" rIns="0" bIns="0" rtlCol="0" anchor="ctr"/>
          <a:lstStyle/>
          <a:p>
            <a:pPr marL="0" indent="0">
              <a:lnSpc>
                <a:spcPct val="120000"/>
              </a:lnSpc>
              <a:buNone/>
            </a:pPr>
            <a:r>
              <a:rPr lang="en-US" sz="1350" dirty="0">
                <a:solidFill>
                  <a:srgbClr val="1A1A2E"/>
                </a:solidFill>
                <a:latin typeface="Calibri" pitchFamily="34" charset="0"/>
                <a:ea typeface="Calibri" pitchFamily="34" charset="-122"/>
                <a:cs typeface="Calibri" pitchFamily="34" charset="-120"/>
              </a:rPr>
              <a:t>Prosacco ships 12 SKUs across 8 product categories out of the Kern warehouse. Over 2,880 customer orders came through in the affected quarter, nearly 110,000 units of demand  led by Healthy Beverage and Organic Beauty.</a:t>
            </a:r>
            <a:endParaRPr lang="en-US" sz="1350" dirty="0"/>
          </a:p>
        </p:txBody>
      </p:sp>
      <p:sp>
        <p:nvSpPr>
          <p:cNvPr id="4" name="Shape 2"/>
          <p:cNvSpPr/>
          <p:nvPr/>
        </p:nvSpPr>
        <p:spPr>
          <a:xfrm>
            <a:off x="548640" y="2514600"/>
            <a:ext cx="109728" cy="109728"/>
          </a:xfrm>
          <a:prstGeom prst="ellipse">
            <a:avLst/>
          </a:prstGeom>
          <a:solidFill>
            <a:srgbClr val="1C7293"/>
          </a:solidFill>
          <a:ln/>
        </p:spPr>
      </p:sp>
      <p:sp>
        <p:nvSpPr>
          <p:cNvPr id="5" name="Text 3"/>
          <p:cNvSpPr/>
          <p:nvPr/>
        </p:nvSpPr>
        <p:spPr>
          <a:xfrm>
            <a:off x="822960" y="2359152"/>
            <a:ext cx="6035040" cy="41148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2,883  </a:t>
            </a:r>
            <a:r>
              <a:rPr lang="en-US" sz="1350" dirty="0">
                <a:solidFill>
                  <a:srgbClr val="1A1A2E"/>
                </a:solidFill>
                <a:latin typeface="Calibri" pitchFamily="34" charset="0"/>
                <a:ea typeface="Calibri" pitchFamily="34" charset="-122"/>
                <a:cs typeface="Calibri" pitchFamily="34" charset="-120"/>
              </a:rPr>
              <a:t>customer orders</a:t>
            </a:r>
            <a:endParaRPr lang="en-US" sz="1350" dirty="0"/>
          </a:p>
        </p:txBody>
      </p:sp>
      <p:sp>
        <p:nvSpPr>
          <p:cNvPr id="6" name="Shape 4"/>
          <p:cNvSpPr/>
          <p:nvPr/>
        </p:nvSpPr>
        <p:spPr>
          <a:xfrm>
            <a:off x="548640" y="3081528"/>
            <a:ext cx="109728" cy="109728"/>
          </a:xfrm>
          <a:prstGeom prst="ellipse">
            <a:avLst/>
          </a:prstGeom>
          <a:solidFill>
            <a:srgbClr val="1C7293"/>
          </a:solidFill>
          <a:ln/>
        </p:spPr>
      </p:sp>
      <p:sp>
        <p:nvSpPr>
          <p:cNvPr id="7" name="Text 5"/>
          <p:cNvSpPr/>
          <p:nvPr/>
        </p:nvSpPr>
        <p:spPr>
          <a:xfrm>
            <a:off x="822960" y="2926080"/>
            <a:ext cx="6035040" cy="41148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12  </a:t>
            </a:r>
            <a:r>
              <a:rPr lang="en-US" sz="1350" dirty="0">
                <a:solidFill>
                  <a:srgbClr val="1A1A2E"/>
                </a:solidFill>
                <a:latin typeface="Calibri" pitchFamily="34" charset="0"/>
                <a:ea typeface="Calibri" pitchFamily="34" charset="-122"/>
                <a:cs typeface="Calibri" pitchFamily="34" charset="-120"/>
              </a:rPr>
              <a:t>SKUs across 8 categories</a:t>
            </a:r>
            <a:endParaRPr lang="en-US" sz="1350" dirty="0"/>
          </a:p>
        </p:txBody>
      </p:sp>
      <p:sp>
        <p:nvSpPr>
          <p:cNvPr id="8" name="Shape 6"/>
          <p:cNvSpPr/>
          <p:nvPr/>
        </p:nvSpPr>
        <p:spPr>
          <a:xfrm>
            <a:off x="548640" y="3648456"/>
            <a:ext cx="109728" cy="109728"/>
          </a:xfrm>
          <a:prstGeom prst="ellipse">
            <a:avLst/>
          </a:prstGeom>
          <a:solidFill>
            <a:srgbClr val="1C7293"/>
          </a:solidFill>
          <a:ln/>
        </p:spPr>
      </p:sp>
      <p:sp>
        <p:nvSpPr>
          <p:cNvPr id="9" name="Text 7"/>
          <p:cNvSpPr/>
          <p:nvPr/>
        </p:nvSpPr>
        <p:spPr>
          <a:xfrm>
            <a:off x="822960" y="3493008"/>
            <a:ext cx="6035040" cy="41148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109,994  </a:t>
            </a:r>
            <a:r>
              <a:rPr lang="en-US" sz="1350" dirty="0">
                <a:solidFill>
                  <a:srgbClr val="1A1A2E"/>
                </a:solidFill>
                <a:latin typeface="Calibri" pitchFamily="34" charset="0"/>
                <a:ea typeface="Calibri" pitchFamily="34" charset="-122"/>
                <a:cs typeface="Calibri" pitchFamily="34" charset="-120"/>
              </a:rPr>
              <a:t>total units ordered</a:t>
            </a:r>
            <a:endParaRPr lang="en-US" sz="1350" dirty="0"/>
          </a:p>
        </p:txBody>
      </p:sp>
      <p:sp>
        <p:nvSpPr>
          <p:cNvPr id="10" name="Shape 8"/>
          <p:cNvSpPr/>
          <p:nvPr/>
        </p:nvSpPr>
        <p:spPr>
          <a:xfrm>
            <a:off x="548640" y="4215384"/>
            <a:ext cx="109728" cy="109728"/>
          </a:xfrm>
          <a:prstGeom prst="ellipse">
            <a:avLst/>
          </a:prstGeom>
          <a:solidFill>
            <a:srgbClr val="1C7293"/>
          </a:solidFill>
          <a:ln/>
        </p:spPr>
      </p:sp>
      <p:sp>
        <p:nvSpPr>
          <p:cNvPr id="11" name="Text 9"/>
          <p:cNvSpPr/>
          <p:nvPr/>
        </p:nvSpPr>
        <p:spPr>
          <a:xfrm>
            <a:off x="822960" y="4059936"/>
            <a:ext cx="6035040" cy="41148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1  </a:t>
            </a:r>
            <a:r>
              <a:rPr lang="en-US" sz="1350" dirty="0">
                <a:solidFill>
                  <a:srgbClr val="1A1A2E"/>
                </a:solidFill>
                <a:latin typeface="Calibri" pitchFamily="34" charset="0"/>
                <a:ea typeface="Calibri" pitchFamily="34" charset="-122"/>
                <a:cs typeface="Calibri" pitchFamily="34" charset="-120"/>
              </a:rPr>
              <a:t>distribution warehouse (Kern)</a:t>
            </a:r>
            <a:endParaRPr lang="en-US" sz="1350" dirty="0"/>
          </a:p>
        </p:txBody>
      </p:sp>
      <p:sp>
        <p:nvSpPr>
          <p:cNvPr id="12" name="Text 10"/>
          <p:cNvSpPr/>
          <p:nvPr/>
        </p:nvSpPr>
        <p:spPr>
          <a:xfrm>
            <a:off x="548640" y="4983480"/>
            <a:ext cx="6035040" cy="822960"/>
          </a:xfrm>
          <a:prstGeom prst="rect">
            <a:avLst/>
          </a:prstGeom>
          <a:noFill/>
          <a:ln/>
        </p:spPr>
        <p:txBody>
          <a:bodyPr wrap="square" lIns="0" tIns="0" rIns="0" bIns="0"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FP2020 (Fresh Packaged) ranks among the top selling SKUs, which is exactly why a production gap on this item hits hard.</a:t>
            </a:r>
            <a:endParaRPr lang="en-US" sz="1250" dirty="0"/>
          </a:p>
        </p:txBody>
      </p:sp>
      <p:sp>
        <p:nvSpPr>
          <p:cNvPr id="13" name="Text 11"/>
          <p:cNvSpPr/>
          <p:nvPr/>
        </p:nvSpPr>
        <p:spPr>
          <a:xfrm>
            <a:off x="6903720" y="960120"/>
            <a:ext cx="4754880" cy="320040"/>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Total Demand by SKU (units, Q4 2023)</a:t>
            </a:r>
            <a:endParaRPr lang="en-US" sz="1200" dirty="0"/>
          </a:p>
        </p:txBody>
      </p:sp>
      <p:graphicFrame>
        <p:nvGraphicFramePr>
          <p:cNvPr id="14" name="Chart 0"/>
          <p:cNvGraphicFramePr/>
          <p:nvPr>
            <p:extLst>
              <p:ext uri="{D42A27DB-BD31-4B8C-83A1-F6EECF244321}">
                <p14:modId xmlns:p14="http://schemas.microsoft.com/office/powerpoint/2010/main" val="3752129119"/>
              </p:ext>
            </p:extLst>
          </p:nvPr>
        </p:nvGraphicFramePr>
        <p:xfrm>
          <a:off x="6964680" y="1280160"/>
          <a:ext cx="4937760" cy="507492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2"/>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16" name="Text 13"/>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The Trigger: FP2020 Production Falls Behind</a:t>
            </a:r>
            <a:endParaRPr lang="en-US" sz="2700" dirty="0"/>
          </a:p>
        </p:txBody>
      </p:sp>
      <p:sp>
        <p:nvSpPr>
          <p:cNvPr id="3" name="Text 1"/>
          <p:cNvSpPr/>
          <p:nvPr/>
        </p:nvSpPr>
        <p:spPr>
          <a:xfrm>
            <a:off x="548640" y="960120"/>
            <a:ext cx="10881360" cy="685800"/>
          </a:xfrm>
          <a:prstGeom prst="rect">
            <a:avLst/>
          </a:prstGeom>
          <a:noFill/>
          <a:ln/>
        </p:spPr>
        <p:txBody>
          <a:bodyPr wrap="square" lIns="0" tIns="0" rIns="0" bIns="0"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The production plan flagged a delay on FP2020. No units were scheduled to arrive in weeks 39, 40, or 41, right as October demand was accelerating. Production only resumes in week 42.</a:t>
            </a:r>
            <a:endParaRPr lang="en-US" sz="1400" dirty="0"/>
          </a:p>
        </p:txBody>
      </p:sp>
      <p:graphicFrame>
        <p:nvGraphicFramePr>
          <p:cNvPr id="4" name="Chart 0"/>
          <p:cNvGraphicFramePr/>
          <p:nvPr/>
        </p:nvGraphicFramePr>
        <p:xfrm>
          <a:off x="548640" y="1874520"/>
          <a:ext cx="110642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5806440"/>
            <a:ext cx="11064240" cy="594360"/>
          </a:xfrm>
          <a:prstGeom prst="roundRect">
            <a:avLst>
              <a:gd name="adj" fmla="val 9231"/>
            </a:avLst>
          </a:prstGeom>
          <a:solidFill>
            <a:srgbClr val="FBEAE8"/>
          </a:solidFill>
          <a:ln/>
        </p:spPr>
      </p:sp>
      <p:sp>
        <p:nvSpPr>
          <p:cNvPr id="6" name="Text 3"/>
          <p:cNvSpPr/>
          <p:nvPr/>
        </p:nvSpPr>
        <p:spPr>
          <a:xfrm>
            <a:off x="777240" y="5806440"/>
            <a:ext cx="10607040" cy="594360"/>
          </a:xfrm>
          <a:prstGeom prst="rect">
            <a:avLst/>
          </a:prstGeom>
          <a:noFill/>
          <a:ln/>
        </p:spPr>
        <p:txBody>
          <a:bodyPr wrap="square" lIns="0" tIns="0" rIns="0" bIns="0"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Weeks 39–41 : zero planned production, the root cause of the coverage gap analyzed on the next slides.</a:t>
            </a:r>
            <a:endParaRPr lang="en-US" sz="1250" dirty="0"/>
          </a:p>
        </p:txBody>
      </p:sp>
      <p:sp>
        <p:nvSpPr>
          <p:cNvPr id="7" name="Text 4"/>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8" name="Text 5"/>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Tracing the Impact: Inventory Runs Negative</a:t>
            </a:r>
            <a:endParaRPr lang="en-US" sz="2700" dirty="0"/>
          </a:p>
        </p:txBody>
      </p:sp>
      <p:sp>
        <p:nvSpPr>
          <p:cNvPr id="3" name="Text 1"/>
          <p:cNvSpPr/>
          <p:nvPr/>
        </p:nvSpPr>
        <p:spPr>
          <a:xfrm>
            <a:off x="548640" y="960120"/>
            <a:ext cx="10881360" cy="777240"/>
          </a:xfrm>
          <a:prstGeom prst="rect">
            <a:avLst/>
          </a:prstGeom>
          <a:noFill/>
          <a:ln/>
        </p:spPr>
        <p:txBody>
          <a:bodyPr wrap="square" lIns="0" tIns="0" rIns="0" bIns="0" rtlCol="0" anchor="ctr"/>
          <a:lstStyle/>
          <a:p>
            <a:pPr marL="0" indent="0">
              <a:lnSpc>
                <a:spcPct val="120000"/>
              </a:lnSpc>
              <a:buNone/>
            </a:pPr>
            <a:r>
              <a:rPr lang="en-US" sz="1350" dirty="0">
                <a:solidFill>
                  <a:srgbClr val="1A1A2E"/>
                </a:solidFill>
                <a:latin typeface="Calibri" pitchFamily="34" charset="0"/>
                <a:ea typeface="Calibri" pitchFamily="34" charset="-122"/>
                <a:cs typeface="Calibri" pitchFamily="34" charset="-120"/>
              </a:rPr>
              <a:t>A week by week PSI (Production Sales Inventory) build shows the consequence directly. FP2020's projected final inventory turns negative in weeks 41 and 42, </a:t>
            </a:r>
            <a:r>
              <a:rPr lang="en-US" sz="1350" dirty="0" err="1">
                <a:solidFill>
                  <a:srgbClr val="1A1A2E"/>
                </a:solidFill>
                <a:latin typeface="Calibri" pitchFamily="34" charset="0"/>
                <a:ea typeface="Calibri" pitchFamily="34" charset="-122"/>
                <a:cs typeface="Calibri" pitchFamily="34" charset="-120"/>
              </a:rPr>
              <a:t>Prosacco</a:t>
            </a:r>
            <a:r>
              <a:rPr lang="en-US" sz="1350" dirty="0">
                <a:solidFill>
                  <a:srgbClr val="1A1A2E"/>
                </a:solidFill>
                <a:latin typeface="Calibri" pitchFamily="34" charset="0"/>
                <a:ea typeface="Calibri" pitchFamily="34" charset="-122"/>
                <a:cs typeface="Calibri" pitchFamily="34" charset="-120"/>
              </a:rPr>
              <a:t> cannot physically cover all demand in those weeks.</a:t>
            </a:r>
            <a:endParaRPr lang="en-US" sz="1350" dirty="0"/>
          </a:p>
        </p:txBody>
      </p:sp>
      <p:graphicFrame>
        <p:nvGraphicFramePr>
          <p:cNvPr id="4" name="Chart 0"/>
          <p:cNvGraphicFramePr/>
          <p:nvPr/>
        </p:nvGraphicFramePr>
        <p:xfrm>
          <a:off x="548640" y="1965960"/>
          <a:ext cx="110642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6080760"/>
            <a:ext cx="11064240" cy="36576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Weeks 41–42: FP2020 falls short by 795 and 1,488 units respectively, the two weeks carried forward into the financial impact review.</a:t>
            </a:r>
            <a:endParaRPr lang="en-US" sz="1150" dirty="0"/>
          </a:p>
        </p:txBody>
      </p:sp>
      <p:sp>
        <p:nvSpPr>
          <p:cNvPr id="6" name="Text 3"/>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7" name="Text 4"/>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Financial Impact: Two Weeks, $285K at Risk</a:t>
            </a:r>
            <a:endParaRPr lang="en-US" sz="2700" dirty="0"/>
          </a:p>
        </p:txBody>
      </p:sp>
      <p:sp>
        <p:nvSpPr>
          <p:cNvPr id="3" name="Text 1"/>
          <p:cNvSpPr/>
          <p:nvPr/>
        </p:nvSpPr>
        <p:spPr>
          <a:xfrm>
            <a:off x="548640" y="960120"/>
            <a:ext cx="6675120" cy="1005840"/>
          </a:xfrm>
          <a:prstGeom prst="rect">
            <a:avLst/>
          </a:prstGeom>
          <a:noFill/>
          <a:ln/>
        </p:spPr>
        <p:txBody>
          <a:bodyPr wrap="square" lIns="0" tIns="0" rIns="0" bIns="0" rtlCol="0" anchor="ctr"/>
          <a:lstStyle/>
          <a:p>
            <a:pPr marL="0" indent="0">
              <a:lnSpc>
                <a:spcPct val="120000"/>
              </a:lnSpc>
              <a:buNone/>
            </a:pPr>
            <a:r>
              <a:rPr lang="en-US" sz="1350" dirty="0">
                <a:solidFill>
                  <a:srgbClr val="1A1A2E"/>
                </a:solidFill>
                <a:latin typeface="Calibri" pitchFamily="34" charset="0"/>
                <a:ea typeface="Calibri" pitchFamily="34" charset="-122"/>
                <a:cs typeface="Calibri" pitchFamily="34" charset="-120"/>
              </a:rPr>
              <a:t>Converting the shortfall into dollars, week 41 demand was 77% covered by available inventory. Week 42 coverage dropped to just 40% as the shortage deepened.</a:t>
            </a:r>
            <a:endParaRPr lang="en-US" sz="1350" dirty="0"/>
          </a:p>
        </p:txBody>
      </p:sp>
      <p:graphicFrame>
        <p:nvGraphicFramePr>
          <p:cNvPr id="4" name="Chart 0"/>
          <p:cNvGraphicFramePr/>
          <p:nvPr/>
        </p:nvGraphicFramePr>
        <p:xfrm>
          <a:off x="548640" y="2057400"/>
          <a:ext cx="63093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2057400"/>
            <a:ext cx="4526280" cy="1874520"/>
          </a:xfrm>
          <a:prstGeom prst="roundRect">
            <a:avLst>
              <a:gd name="adj" fmla="val 3415"/>
            </a:avLst>
          </a:prstGeom>
          <a:solidFill>
            <a:srgbClr val="FFFFFF"/>
          </a:solidFill>
          <a:ln w="12700">
            <a:solidFill>
              <a:srgbClr val="E3E8EE"/>
            </a:solidFill>
            <a:prstDash val="solid"/>
          </a:ln>
          <a:effectLst>
            <a:outerShdw blurRad="63500" dist="25400" dir="5400000" algn="bl" rotWithShape="0">
              <a:srgbClr val="999999">
                <a:alpha val="20000"/>
              </a:srgbClr>
            </a:outerShdw>
          </a:effectLst>
        </p:spPr>
      </p:sp>
      <p:sp>
        <p:nvSpPr>
          <p:cNvPr id="6" name="Text 3"/>
          <p:cNvSpPr/>
          <p:nvPr/>
        </p:nvSpPr>
        <p:spPr>
          <a:xfrm>
            <a:off x="7315200" y="2185416"/>
            <a:ext cx="402336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WEEK 41</a:t>
            </a:r>
            <a:endParaRPr lang="en-US" sz="1200" dirty="0"/>
          </a:p>
        </p:txBody>
      </p:sp>
      <p:sp>
        <p:nvSpPr>
          <p:cNvPr id="7" name="Text 4"/>
          <p:cNvSpPr/>
          <p:nvPr/>
        </p:nvSpPr>
        <p:spPr>
          <a:xfrm>
            <a:off x="7315200" y="2514600"/>
            <a:ext cx="4114800" cy="1325880"/>
          </a:xfrm>
          <a:prstGeom prst="rect">
            <a:avLst/>
          </a:prstGeom>
          <a:noFill/>
          <a:ln/>
        </p:spPr>
        <p:txBody>
          <a:bodyPr wrap="square" lIns="0" tIns="0" rIns="0" bIns="0" rtlCol="0" anchor="ctr"/>
          <a:lstStyle/>
          <a:p>
            <a:pPr marL="0" indent="0">
              <a:lnSpc>
                <a:spcPct val="135000"/>
              </a:lnSpc>
              <a:buNone/>
            </a:pPr>
            <a:r>
              <a:rPr lang="en-US" sz="1250" dirty="0">
                <a:solidFill>
                  <a:srgbClr val="6B7280"/>
                </a:solidFill>
                <a:latin typeface="Calibri" pitchFamily="34" charset="0"/>
                <a:ea typeface="Calibri" pitchFamily="34" charset="-122"/>
                <a:cs typeface="Calibri" pitchFamily="34" charset="-120"/>
              </a:rPr>
              <a:t>Demand: </a:t>
            </a:r>
            <a:r>
              <a:rPr lang="en-US" sz="1250" b="1" dirty="0">
                <a:solidFill>
                  <a:srgbClr val="1A1A2E"/>
                </a:solidFill>
                <a:latin typeface="Calibri" pitchFamily="34" charset="0"/>
                <a:ea typeface="Calibri" pitchFamily="34" charset="-122"/>
                <a:cs typeface="Calibri" pitchFamily="34" charset="-120"/>
              </a:rPr>
              <a:t>$434,000
</a:t>
            </a:r>
            <a:r>
              <a:rPr lang="en-US" sz="1250" dirty="0">
                <a:solidFill>
                  <a:srgbClr val="6B7280"/>
                </a:solidFill>
                <a:latin typeface="Calibri" pitchFamily="34" charset="0"/>
                <a:ea typeface="Calibri" pitchFamily="34" charset="-122"/>
                <a:cs typeface="Calibri" pitchFamily="34" charset="-120"/>
              </a:rPr>
              <a:t>Coverage: </a:t>
            </a:r>
            <a:r>
              <a:rPr lang="en-US" sz="1250" b="1" dirty="0">
                <a:solidFill>
                  <a:srgbClr val="1A1A2E"/>
                </a:solidFill>
                <a:latin typeface="Calibri" pitchFamily="34" charset="0"/>
                <a:ea typeface="Calibri" pitchFamily="34" charset="-122"/>
                <a:cs typeface="Calibri" pitchFamily="34" charset="-120"/>
              </a:rPr>
              <a:t>77.1%
</a:t>
            </a:r>
            <a:r>
              <a:rPr lang="en-US" sz="1250" dirty="0">
                <a:solidFill>
                  <a:srgbClr val="6B7280"/>
                </a:solidFill>
                <a:latin typeface="Calibri" pitchFamily="34" charset="0"/>
                <a:ea typeface="Calibri" pitchFamily="34" charset="-122"/>
                <a:cs typeface="Calibri" pitchFamily="34" charset="-120"/>
              </a:rPr>
              <a:t>Uncovered: </a:t>
            </a:r>
            <a:r>
              <a:rPr lang="en-US" sz="1250" b="1" dirty="0">
                <a:solidFill>
                  <a:srgbClr val="C0392B"/>
                </a:solidFill>
                <a:latin typeface="Calibri" pitchFamily="34" charset="0"/>
                <a:ea typeface="Calibri" pitchFamily="34" charset="-122"/>
                <a:cs typeface="Calibri" pitchFamily="34" charset="-120"/>
              </a:rPr>
              <a:t>$99,375  (795 units short)</a:t>
            </a:r>
            <a:endParaRPr lang="en-US" sz="1250" dirty="0"/>
          </a:p>
        </p:txBody>
      </p:sp>
      <p:sp>
        <p:nvSpPr>
          <p:cNvPr id="8" name="Shape 5"/>
          <p:cNvSpPr/>
          <p:nvPr/>
        </p:nvSpPr>
        <p:spPr>
          <a:xfrm>
            <a:off x="7086600" y="4206240"/>
            <a:ext cx="4526280" cy="1874520"/>
          </a:xfrm>
          <a:prstGeom prst="roundRect">
            <a:avLst>
              <a:gd name="adj" fmla="val 3415"/>
            </a:avLst>
          </a:prstGeom>
          <a:solidFill>
            <a:srgbClr val="FFFFFF"/>
          </a:solidFill>
          <a:ln w="12700">
            <a:solidFill>
              <a:srgbClr val="E3E8EE"/>
            </a:solidFill>
            <a:prstDash val="solid"/>
          </a:ln>
          <a:effectLst>
            <a:outerShdw blurRad="63500" dist="25400" dir="5400000" algn="bl" rotWithShape="0">
              <a:srgbClr val="999999">
                <a:alpha val="20000"/>
              </a:srgbClr>
            </a:outerShdw>
          </a:effectLst>
        </p:spPr>
      </p:sp>
      <p:sp>
        <p:nvSpPr>
          <p:cNvPr id="9" name="Text 6"/>
          <p:cNvSpPr/>
          <p:nvPr/>
        </p:nvSpPr>
        <p:spPr>
          <a:xfrm>
            <a:off x="7315200" y="4334256"/>
            <a:ext cx="402336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WEEK 42</a:t>
            </a:r>
            <a:endParaRPr lang="en-US" sz="1200" dirty="0"/>
          </a:p>
        </p:txBody>
      </p:sp>
      <p:sp>
        <p:nvSpPr>
          <p:cNvPr id="10" name="Text 7"/>
          <p:cNvSpPr/>
          <p:nvPr/>
        </p:nvSpPr>
        <p:spPr>
          <a:xfrm>
            <a:off x="7315200" y="4663440"/>
            <a:ext cx="4114800" cy="1325880"/>
          </a:xfrm>
          <a:prstGeom prst="rect">
            <a:avLst/>
          </a:prstGeom>
          <a:noFill/>
          <a:ln/>
        </p:spPr>
        <p:txBody>
          <a:bodyPr wrap="square" lIns="0" tIns="0" rIns="0" bIns="0" rtlCol="0" anchor="ctr"/>
          <a:lstStyle/>
          <a:p>
            <a:pPr marL="0" indent="0">
              <a:lnSpc>
                <a:spcPct val="135000"/>
              </a:lnSpc>
              <a:buNone/>
            </a:pPr>
            <a:r>
              <a:rPr lang="en-US" sz="1250" dirty="0">
                <a:solidFill>
                  <a:srgbClr val="6B7280"/>
                </a:solidFill>
                <a:latin typeface="Calibri" pitchFamily="34" charset="0"/>
                <a:ea typeface="Calibri" pitchFamily="34" charset="-122"/>
                <a:cs typeface="Calibri" pitchFamily="34" charset="-120"/>
              </a:rPr>
              <a:t>Demand: </a:t>
            </a:r>
            <a:r>
              <a:rPr lang="en-US" sz="1250" b="1" dirty="0">
                <a:solidFill>
                  <a:srgbClr val="1A1A2E"/>
                </a:solidFill>
                <a:latin typeface="Calibri" pitchFamily="34" charset="0"/>
                <a:ea typeface="Calibri" pitchFamily="34" charset="-122"/>
                <a:cs typeface="Calibri" pitchFamily="34" charset="-120"/>
              </a:rPr>
              <a:t>$311,000
</a:t>
            </a:r>
            <a:r>
              <a:rPr lang="en-US" sz="1250" dirty="0">
                <a:solidFill>
                  <a:srgbClr val="6B7280"/>
                </a:solidFill>
                <a:latin typeface="Calibri" pitchFamily="34" charset="0"/>
                <a:ea typeface="Calibri" pitchFamily="34" charset="-122"/>
                <a:cs typeface="Calibri" pitchFamily="34" charset="-120"/>
              </a:rPr>
              <a:t>Coverage: </a:t>
            </a:r>
            <a:r>
              <a:rPr lang="en-US" sz="1250" b="1" dirty="0">
                <a:solidFill>
                  <a:srgbClr val="1A1A2E"/>
                </a:solidFill>
                <a:latin typeface="Calibri" pitchFamily="34" charset="0"/>
                <a:ea typeface="Calibri" pitchFamily="34" charset="-122"/>
                <a:cs typeface="Calibri" pitchFamily="34" charset="-120"/>
              </a:rPr>
              <a:t>40.2%
</a:t>
            </a:r>
            <a:r>
              <a:rPr lang="en-US" sz="1250" dirty="0">
                <a:solidFill>
                  <a:srgbClr val="6B7280"/>
                </a:solidFill>
                <a:latin typeface="Calibri" pitchFamily="34" charset="0"/>
                <a:ea typeface="Calibri" pitchFamily="34" charset="-122"/>
                <a:cs typeface="Calibri" pitchFamily="34" charset="-120"/>
              </a:rPr>
              <a:t>Uncovered: </a:t>
            </a:r>
            <a:r>
              <a:rPr lang="en-US" sz="1250" b="1" dirty="0">
                <a:solidFill>
                  <a:srgbClr val="C0392B"/>
                </a:solidFill>
                <a:latin typeface="Calibri" pitchFamily="34" charset="0"/>
                <a:ea typeface="Calibri" pitchFamily="34" charset="-122"/>
                <a:cs typeface="Calibri" pitchFamily="34" charset="-120"/>
              </a:rPr>
              <a:t>$186,000  (1,488 units short)</a:t>
            </a:r>
            <a:endParaRPr lang="en-US" sz="1250" dirty="0"/>
          </a:p>
        </p:txBody>
      </p:sp>
      <p:sp>
        <p:nvSpPr>
          <p:cNvPr id="12" name="Text 9"/>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13" name="Text 10"/>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Who Felt It: Customer Impact Varies Widely</a:t>
            </a:r>
            <a:endParaRPr lang="en-US" sz="2700" dirty="0"/>
          </a:p>
        </p:txBody>
      </p:sp>
      <p:sp>
        <p:nvSpPr>
          <p:cNvPr id="3" name="Text 1"/>
          <p:cNvSpPr/>
          <p:nvPr/>
        </p:nvSpPr>
        <p:spPr>
          <a:xfrm>
            <a:off x="548640" y="960120"/>
            <a:ext cx="10881360" cy="777240"/>
          </a:xfrm>
          <a:prstGeom prst="rect">
            <a:avLst/>
          </a:prstGeom>
          <a:noFill/>
          <a:ln/>
        </p:spPr>
        <p:txBody>
          <a:bodyPr wrap="square" lIns="0" tIns="0" rIns="0" bIns="0" rtlCol="0" anchor="ctr"/>
          <a:lstStyle/>
          <a:p>
            <a:pPr marL="0" indent="0">
              <a:lnSpc>
                <a:spcPct val="120000"/>
              </a:lnSpc>
              <a:buNone/>
            </a:pPr>
            <a:r>
              <a:rPr lang="en-US" sz="1350" dirty="0">
                <a:solidFill>
                  <a:srgbClr val="1A1A2E"/>
                </a:solidFill>
                <a:latin typeface="Calibri" pitchFamily="34" charset="0"/>
                <a:ea typeface="Calibri" pitchFamily="34" charset="-122"/>
                <a:cs typeface="Calibri" pitchFamily="34" charset="-120"/>
              </a:rPr>
              <a:t>Eight customers had FP2020 orders in the affected weeks. Dollar exposure is concentrated in Prosacco's two largest retail accounts, but the deepest relative disruption fell on a much smaller customer.</a:t>
            </a:r>
            <a:endParaRPr lang="en-US" sz="1350" dirty="0"/>
          </a:p>
        </p:txBody>
      </p:sp>
      <p:graphicFrame>
        <p:nvGraphicFramePr>
          <p:cNvPr id="4" name="Chart 0"/>
          <p:cNvGraphicFramePr/>
          <p:nvPr>
            <p:extLst>
              <p:ext uri="{D42A27DB-BD31-4B8C-83A1-F6EECF244321}">
                <p14:modId xmlns:p14="http://schemas.microsoft.com/office/powerpoint/2010/main" val="3533285692"/>
              </p:ext>
            </p:extLst>
          </p:nvPr>
        </p:nvGraphicFramePr>
        <p:xfrm>
          <a:off x="548640" y="1874520"/>
          <a:ext cx="70408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18120" y="1874520"/>
            <a:ext cx="3794760" cy="1965960"/>
          </a:xfrm>
          <a:prstGeom prst="roundRect">
            <a:avLst>
              <a:gd name="adj" fmla="val 3256"/>
            </a:avLst>
          </a:prstGeom>
          <a:solidFill>
            <a:srgbClr val="FBEAE8"/>
          </a:solidFill>
          <a:ln/>
        </p:spPr>
      </p:sp>
      <p:sp>
        <p:nvSpPr>
          <p:cNvPr id="7" name="Text 4"/>
          <p:cNvSpPr/>
          <p:nvPr/>
        </p:nvSpPr>
        <p:spPr>
          <a:xfrm>
            <a:off x="8046720" y="2011680"/>
            <a:ext cx="3383280" cy="274320"/>
          </a:xfrm>
          <a:prstGeom prst="rect">
            <a:avLst/>
          </a:prstGeom>
          <a:noFill/>
          <a:ln/>
        </p:spPr>
        <p:txBody>
          <a:bodyPr wrap="square" lIns="0" tIns="0" rIns="0" bIns="0" rtlCol="0" anchor="ctr"/>
          <a:lstStyle/>
          <a:p>
            <a:pPr marL="0" indent="0">
              <a:buNone/>
            </a:pPr>
            <a:r>
              <a:rPr lang="en-US" sz="1100" b="1" kern="0" spc="100" dirty="0">
                <a:solidFill>
                  <a:srgbClr val="C0392B"/>
                </a:solidFill>
                <a:latin typeface="Calibri" pitchFamily="34" charset="0"/>
                <a:ea typeface="Calibri" pitchFamily="34" charset="-122"/>
                <a:cs typeface="Calibri" pitchFamily="34" charset="-120"/>
              </a:rPr>
              <a:t>MOST DISRUPTED (BY %)</a:t>
            </a:r>
            <a:endParaRPr lang="en-US" sz="1100" dirty="0"/>
          </a:p>
        </p:txBody>
      </p:sp>
      <p:sp>
        <p:nvSpPr>
          <p:cNvPr id="8" name="Text 5"/>
          <p:cNvSpPr/>
          <p:nvPr/>
        </p:nvSpPr>
        <p:spPr>
          <a:xfrm>
            <a:off x="8046720" y="2286000"/>
            <a:ext cx="3383280" cy="457200"/>
          </a:xfrm>
          <a:prstGeom prst="rect">
            <a:avLst/>
          </a:prstGeom>
          <a:noFill/>
          <a:ln/>
        </p:spPr>
        <p:txBody>
          <a:bodyPr wrap="square" lIns="0" tIns="0" rIns="0" bIns="0" rtlCol="0" anchor="ctr"/>
          <a:lstStyle/>
          <a:p>
            <a:pPr marL="0" indent="0">
              <a:buNone/>
            </a:pPr>
            <a:r>
              <a:rPr lang="en-US" sz="2200" b="1" dirty="0">
                <a:solidFill>
                  <a:srgbClr val="21295C"/>
                </a:solidFill>
                <a:latin typeface="Cambria" pitchFamily="34" charset="0"/>
                <a:ea typeface="Cambria" pitchFamily="34" charset="-122"/>
                <a:cs typeface="Cambria" pitchFamily="34" charset="-120"/>
              </a:rPr>
              <a:t>Customer8</a:t>
            </a:r>
            <a:endParaRPr lang="en-US" sz="2200" dirty="0"/>
          </a:p>
        </p:txBody>
      </p:sp>
      <p:sp>
        <p:nvSpPr>
          <p:cNvPr id="9" name="Text 6"/>
          <p:cNvSpPr/>
          <p:nvPr/>
        </p:nvSpPr>
        <p:spPr>
          <a:xfrm>
            <a:off x="8046720" y="2788920"/>
            <a:ext cx="3291840" cy="960120"/>
          </a:xfrm>
          <a:prstGeom prst="rect">
            <a:avLst/>
          </a:prstGeom>
          <a:noFill/>
          <a:ln/>
        </p:spPr>
        <p:txBody>
          <a:bodyPr wrap="square" lIns="0" tIns="0" rIns="0" bIns="0" rtlCol="0" anchor="ctr"/>
          <a:lstStyle/>
          <a:p>
            <a:pPr marL="0" indent="0">
              <a:lnSpc>
                <a:spcPct val="120000"/>
              </a:lnSpc>
              <a:buNone/>
            </a:pPr>
            <a:r>
              <a:rPr lang="en-US" sz="1200" dirty="0">
                <a:solidFill>
                  <a:srgbClr val="1A1A2E"/>
                </a:solidFill>
                <a:latin typeface="Calibri" pitchFamily="34" charset="0"/>
                <a:ea typeface="Calibri" pitchFamily="34" charset="-122"/>
                <a:cs typeface="Calibri" pitchFamily="34" charset="-120"/>
              </a:rPr>
              <a:t>60% of its FP2020 orders went unfilled, just $3,750, but a critical share for this account.</a:t>
            </a:r>
            <a:endParaRPr lang="en-US" sz="1200" dirty="0"/>
          </a:p>
        </p:txBody>
      </p:sp>
      <p:sp>
        <p:nvSpPr>
          <p:cNvPr id="10" name="Shape 7"/>
          <p:cNvSpPr/>
          <p:nvPr/>
        </p:nvSpPr>
        <p:spPr>
          <a:xfrm>
            <a:off x="7818120" y="4069080"/>
            <a:ext cx="3794760" cy="1965960"/>
          </a:xfrm>
          <a:prstGeom prst="roundRect">
            <a:avLst>
              <a:gd name="adj" fmla="val 3256"/>
            </a:avLst>
          </a:prstGeom>
          <a:solidFill>
            <a:srgbClr val="E6F7F3"/>
          </a:solidFill>
          <a:ln/>
        </p:spPr>
      </p:sp>
      <p:sp>
        <p:nvSpPr>
          <p:cNvPr id="11" name="Text 8"/>
          <p:cNvSpPr/>
          <p:nvPr/>
        </p:nvSpPr>
        <p:spPr>
          <a:xfrm>
            <a:off x="8046720" y="4206240"/>
            <a:ext cx="3383280" cy="274320"/>
          </a:xfrm>
          <a:prstGeom prst="rect">
            <a:avLst/>
          </a:prstGeom>
          <a:noFill/>
          <a:ln/>
        </p:spPr>
        <p:txBody>
          <a:bodyPr wrap="square" lIns="0" tIns="0" rIns="0" bIns="0" rtlCol="0" anchor="ctr"/>
          <a:lstStyle/>
          <a:p>
            <a:pPr marL="0" indent="0">
              <a:buNone/>
            </a:pPr>
            <a:r>
              <a:rPr lang="en-US" sz="1100" b="1" kern="0" spc="100" dirty="0">
                <a:solidFill>
                  <a:srgbClr val="02C39A"/>
                </a:solidFill>
                <a:latin typeface="Calibri" pitchFamily="34" charset="0"/>
                <a:ea typeface="Calibri" pitchFamily="34" charset="-122"/>
                <a:cs typeface="Calibri" pitchFamily="34" charset="-120"/>
              </a:rPr>
              <a:t>LEAST DISRUPTED (BY %)</a:t>
            </a:r>
            <a:endParaRPr lang="en-US" sz="1100" dirty="0"/>
          </a:p>
        </p:txBody>
      </p:sp>
      <p:sp>
        <p:nvSpPr>
          <p:cNvPr id="12" name="Text 9"/>
          <p:cNvSpPr/>
          <p:nvPr/>
        </p:nvSpPr>
        <p:spPr>
          <a:xfrm>
            <a:off x="8046720" y="4480560"/>
            <a:ext cx="3383280" cy="457200"/>
          </a:xfrm>
          <a:prstGeom prst="rect">
            <a:avLst/>
          </a:prstGeom>
          <a:noFill/>
          <a:ln/>
        </p:spPr>
        <p:txBody>
          <a:bodyPr wrap="square" lIns="0" tIns="0" rIns="0" bIns="0" rtlCol="0" anchor="ctr"/>
          <a:lstStyle/>
          <a:p>
            <a:pPr marL="0" indent="0">
              <a:buNone/>
            </a:pPr>
            <a:r>
              <a:rPr lang="en-US" sz="2200" b="1" dirty="0">
                <a:solidFill>
                  <a:srgbClr val="21295C"/>
                </a:solidFill>
                <a:latin typeface="Cambria" pitchFamily="34" charset="0"/>
                <a:ea typeface="Cambria" pitchFamily="34" charset="-122"/>
                <a:cs typeface="Cambria" pitchFamily="34" charset="-120"/>
              </a:rPr>
              <a:t>Customer5</a:t>
            </a:r>
            <a:endParaRPr lang="en-US" sz="2200" dirty="0"/>
          </a:p>
        </p:txBody>
      </p:sp>
      <p:sp>
        <p:nvSpPr>
          <p:cNvPr id="13" name="Text 10"/>
          <p:cNvSpPr/>
          <p:nvPr/>
        </p:nvSpPr>
        <p:spPr>
          <a:xfrm>
            <a:off x="8046720" y="4983480"/>
            <a:ext cx="3291840" cy="960120"/>
          </a:xfrm>
          <a:prstGeom prst="rect">
            <a:avLst/>
          </a:prstGeom>
          <a:noFill/>
          <a:ln/>
        </p:spPr>
        <p:txBody>
          <a:bodyPr wrap="square" lIns="0" tIns="0" rIns="0" bIns="0" rtlCol="0" anchor="ctr"/>
          <a:lstStyle/>
          <a:p>
            <a:pPr marL="0" indent="0">
              <a:lnSpc>
                <a:spcPct val="120000"/>
              </a:lnSpc>
              <a:buNone/>
            </a:pPr>
            <a:r>
              <a:rPr lang="en-US" sz="1200" dirty="0">
                <a:solidFill>
                  <a:srgbClr val="1A1A2E"/>
                </a:solidFill>
                <a:latin typeface="Calibri" pitchFamily="34" charset="0"/>
                <a:ea typeface="Calibri" pitchFamily="34" charset="-122"/>
                <a:cs typeface="Calibri" pitchFamily="34" charset="-120"/>
              </a:rPr>
              <a:t>Only 1% of its FP2020 orders were affected, largely insulated from the shortage.</a:t>
            </a:r>
            <a:endParaRPr lang="en-US" sz="1200" dirty="0"/>
          </a:p>
        </p:txBody>
      </p:sp>
      <p:sp>
        <p:nvSpPr>
          <p:cNvPr id="14" name="Text 11"/>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15" name="Text 12"/>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54864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Closing the Loop: Continuous Improvement</a:t>
            </a:r>
            <a:endParaRPr lang="en-US" sz="2700" dirty="0"/>
          </a:p>
        </p:txBody>
      </p:sp>
      <p:sp>
        <p:nvSpPr>
          <p:cNvPr id="3" name="Text 1"/>
          <p:cNvSpPr/>
          <p:nvPr/>
        </p:nvSpPr>
        <p:spPr>
          <a:xfrm>
            <a:off x="548640" y="960120"/>
            <a:ext cx="10881360" cy="45720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Three actions to keep a single production delay from ever again turning into a customer facing sales gap.</a:t>
            </a:r>
            <a:endParaRPr lang="en-US" sz="1400" dirty="0"/>
          </a:p>
        </p:txBody>
      </p:sp>
      <p:sp>
        <p:nvSpPr>
          <p:cNvPr id="4" name="Shape 2"/>
          <p:cNvSpPr/>
          <p:nvPr/>
        </p:nvSpPr>
        <p:spPr>
          <a:xfrm>
            <a:off x="548640" y="1874520"/>
            <a:ext cx="777240" cy="777240"/>
          </a:xfrm>
          <a:prstGeom prst="ellipse">
            <a:avLst/>
          </a:prstGeom>
          <a:solidFill>
            <a:srgbClr val="065A82"/>
          </a:solidFill>
          <a:ln/>
        </p:spPr>
      </p:sp>
      <p:sp>
        <p:nvSpPr>
          <p:cNvPr id="5" name="Text 3"/>
          <p:cNvSpPr/>
          <p:nvPr/>
        </p:nvSpPr>
        <p:spPr>
          <a:xfrm>
            <a:off x="548640" y="187452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508760" y="1856232"/>
            <a:ext cx="98755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Dual source production</a:t>
            </a:r>
            <a:endParaRPr lang="en-US" sz="1700" dirty="0"/>
          </a:p>
        </p:txBody>
      </p:sp>
      <p:sp>
        <p:nvSpPr>
          <p:cNvPr id="7" name="Text 5"/>
          <p:cNvSpPr/>
          <p:nvPr/>
        </p:nvSpPr>
        <p:spPr>
          <a:xfrm>
            <a:off x="1508760" y="2221992"/>
            <a:ext cx="9875520" cy="594360"/>
          </a:xfrm>
          <a:prstGeom prst="rect">
            <a:avLst/>
          </a:prstGeom>
          <a:noFill/>
          <a:ln/>
        </p:spPr>
        <p:txBody>
          <a:bodyPr wrap="square" lIns="0" tIns="0" rIns="0" bIns="0" rtlCol="0" anchor="ctr"/>
          <a:lstStyle/>
          <a:p>
            <a:pPr marL="0" indent="0">
              <a:lnSpc>
                <a:spcPct val="120000"/>
              </a:lnSpc>
              <a:buNone/>
            </a:pPr>
            <a:r>
              <a:rPr lang="en-US" sz="1300" dirty="0">
                <a:solidFill>
                  <a:srgbClr val="1A1A2E"/>
                </a:solidFill>
                <a:latin typeface="Calibri" pitchFamily="34" charset="0"/>
                <a:ea typeface="Calibri" pitchFamily="34" charset="-122"/>
                <a:cs typeface="Calibri" pitchFamily="34" charset="-120"/>
              </a:rPr>
              <a:t>Qualify a second manufacturer for FP2020 (and other top SKUs) so a delay at one supplier no longer means zero units for weeks at a time.</a:t>
            </a:r>
            <a:endParaRPr lang="en-US" sz="1300" dirty="0"/>
          </a:p>
        </p:txBody>
      </p:sp>
      <p:sp>
        <p:nvSpPr>
          <p:cNvPr id="8" name="Shape 6"/>
          <p:cNvSpPr/>
          <p:nvPr/>
        </p:nvSpPr>
        <p:spPr>
          <a:xfrm>
            <a:off x="548640" y="3291840"/>
            <a:ext cx="777240" cy="777240"/>
          </a:xfrm>
          <a:prstGeom prst="ellipse">
            <a:avLst/>
          </a:prstGeom>
          <a:solidFill>
            <a:srgbClr val="1C7293"/>
          </a:solidFill>
          <a:ln/>
        </p:spPr>
      </p:sp>
      <p:sp>
        <p:nvSpPr>
          <p:cNvPr id="9" name="Text 7"/>
          <p:cNvSpPr/>
          <p:nvPr/>
        </p:nvSpPr>
        <p:spPr>
          <a:xfrm>
            <a:off x="548640" y="329184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1508760" y="3273552"/>
            <a:ext cx="98755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Renegotiate delivery windows</a:t>
            </a:r>
            <a:endParaRPr lang="en-US" sz="1700" dirty="0"/>
          </a:p>
        </p:txBody>
      </p:sp>
      <p:sp>
        <p:nvSpPr>
          <p:cNvPr id="11" name="Text 9"/>
          <p:cNvSpPr/>
          <p:nvPr/>
        </p:nvSpPr>
        <p:spPr>
          <a:xfrm>
            <a:off x="1508760" y="3639312"/>
            <a:ext cx="9875520" cy="594360"/>
          </a:xfrm>
          <a:prstGeom prst="rect">
            <a:avLst/>
          </a:prstGeom>
          <a:noFill/>
          <a:ln/>
        </p:spPr>
        <p:txBody>
          <a:bodyPr wrap="square" lIns="0" tIns="0" rIns="0" bIns="0" rtlCol="0" anchor="ctr"/>
          <a:lstStyle/>
          <a:p>
            <a:pPr marL="0" indent="0">
              <a:lnSpc>
                <a:spcPct val="120000"/>
              </a:lnSpc>
              <a:buNone/>
            </a:pPr>
            <a:r>
              <a:rPr lang="en-US" sz="1300" dirty="0">
                <a:solidFill>
                  <a:srgbClr val="1A1A2E"/>
                </a:solidFill>
                <a:latin typeface="Calibri" pitchFamily="34" charset="0"/>
                <a:ea typeface="Calibri" pitchFamily="34" charset="-122"/>
                <a:cs typeface="Calibri" pitchFamily="34" charset="-120"/>
              </a:rPr>
              <a:t>Build flexible delivery date agreements with key customers so short delays can be absorbed without a lost sale.</a:t>
            </a:r>
            <a:endParaRPr lang="en-US" sz="1300" dirty="0"/>
          </a:p>
        </p:txBody>
      </p:sp>
      <p:sp>
        <p:nvSpPr>
          <p:cNvPr id="12" name="Shape 10"/>
          <p:cNvSpPr/>
          <p:nvPr/>
        </p:nvSpPr>
        <p:spPr>
          <a:xfrm>
            <a:off x="548640" y="4709160"/>
            <a:ext cx="777240" cy="777240"/>
          </a:xfrm>
          <a:prstGeom prst="ellipse">
            <a:avLst/>
          </a:prstGeom>
          <a:solidFill>
            <a:srgbClr val="21295C"/>
          </a:solidFill>
          <a:ln/>
        </p:spPr>
      </p:sp>
      <p:sp>
        <p:nvSpPr>
          <p:cNvPr id="13" name="Text 11"/>
          <p:cNvSpPr/>
          <p:nvPr/>
        </p:nvSpPr>
        <p:spPr>
          <a:xfrm>
            <a:off x="548640" y="470916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508760" y="4690872"/>
            <a:ext cx="9875520" cy="365760"/>
          </a:xfrm>
          <a:prstGeom prst="rect">
            <a:avLst/>
          </a:prstGeom>
          <a:noFill/>
          <a:ln/>
        </p:spPr>
        <p:txBody>
          <a:bodyPr wrap="square" lIns="0" tIns="0" rIns="0" bIns="0" rtlCol="0" anchor="ctr"/>
          <a:lstStyle/>
          <a:p>
            <a:pPr marL="0" indent="0">
              <a:buNone/>
            </a:pPr>
            <a:r>
              <a:rPr lang="en-US" sz="1700" b="1" dirty="0">
                <a:solidFill>
                  <a:srgbClr val="21295C"/>
                </a:solidFill>
                <a:latin typeface="Calibri" pitchFamily="34" charset="0"/>
                <a:ea typeface="Calibri" pitchFamily="34" charset="-122"/>
                <a:cs typeface="Calibri" pitchFamily="34" charset="-120"/>
              </a:rPr>
              <a:t>Pre-approve expedited freight</a:t>
            </a:r>
            <a:endParaRPr lang="en-US" sz="1700" dirty="0"/>
          </a:p>
        </p:txBody>
      </p:sp>
      <p:sp>
        <p:nvSpPr>
          <p:cNvPr id="15" name="Text 13"/>
          <p:cNvSpPr/>
          <p:nvPr/>
        </p:nvSpPr>
        <p:spPr>
          <a:xfrm>
            <a:off x="1508760" y="5056632"/>
            <a:ext cx="9875520" cy="594360"/>
          </a:xfrm>
          <a:prstGeom prst="rect">
            <a:avLst/>
          </a:prstGeom>
          <a:noFill/>
          <a:ln/>
        </p:spPr>
        <p:txBody>
          <a:bodyPr wrap="square" lIns="0" tIns="0" rIns="0" bIns="0" rtlCol="0" anchor="ctr"/>
          <a:lstStyle/>
          <a:p>
            <a:pPr marL="0" indent="0">
              <a:lnSpc>
                <a:spcPct val="120000"/>
              </a:lnSpc>
              <a:buNone/>
            </a:pPr>
            <a:r>
              <a:rPr lang="en-US" sz="1300" dirty="0">
                <a:solidFill>
                  <a:srgbClr val="1A1A2E"/>
                </a:solidFill>
                <a:latin typeface="Calibri" pitchFamily="34" charset="0"/>
                <a:ea typeface="Calibri" pitchFamily="34" charset="-122"/>
                <a:cs typeface="Calibri" pitchFamily="34" charset="-120"/>
              </a:rPr>
              <a:t>Pre-negotiate air freight fallback terms with carriers so, when a delay does occur, Prosacco can buy back lead time at a known cost.</a:t>
            </a:r>
            <a:endParaRPr lang="en-US" sz="1300" dirty="0"/>
          </a:p>
        </p:txBody>
      </p:sp>
      <p:sp>
        <p:nvSpPr>
          <p:cNvPr id="16" name="Text 14"/>
          <p:cNvSpPr/>
          <p:nvPr/>
        </p:nvSpPr>
        <p:spPr>
          <a:xfrm>
            <a:off x="548640" y="6537960"/>
            <a:ext cx="73152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Prosacco Supply Chain</a:t>
            </a:r>
            <a:endParaRPr lang="en-US" sz="950" dirty="0"/>
          </a:p>
        </p:txBody>
      </p:sp>
      <p:sp>
        <p:nvSpPr>
          <p:cNvPr id="17" name="Text 15"/>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572000" cy="4572000"/>
          </a:xfrm>
          <a:prstGeom prst="ellipse">
            <a:avLst/>
          </a:prstGeom>
          <a:solidFill>
            <a:srgbClr val="065A82">
              <a:alpha val="45000"/>
            </a:srgbClr>
          </a:solidFill>
          <a:ln/>
        </p:spPr>
      </p:sp>
      <p:sp>
        <p:nvSpPr>
          <p:cNvPr id="3" name="Text 1"/>
          <p:cNvSpPr/>
          <p:nvPr/>
        </p:nvSpPr>
        <p:spPr>
          <a:xfrm>
            <a:off x="640080" y="68580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Bottom Line</a:t>
            </a:r>
            <a:endParaRPr lang="en-US" sz="3200" dirty="0"/>
          </a:p>
        </p:txBody>
      </p:sp>
      <p:sp>
        <p:nvSpPr>
          <p:cNvPr id="4" name="Text 2"/>
          <p:cNvSpPr/>
          <p:nvPr/>
        </p:nvSpPr>
        <p:spPr>
          <a:xfrm>
            <a:off x="640080" y="1417320"/>
            <a:ext cx="10607040" cy="822960"/>
          </a:xfrm>
          <a:prstGeom prst="rect">
            <a:avLst/>
          </a:prstGeom>
          <a:noFill/>
          <a:ln/>
        </p:spPr>
        <p:txBody>
          <a:bodyPr wrap="square" lIns="0" tIns="0" rIns="0" bIns="0" rtlCol="0" anchor="ctr"/>
          <a:lstStyle/>
          <a:p>
            <a:pPr marL="0" indent="0">
              <a:lnSpc>
                <a:spcPct val="125000"/>
              </a:lnSpc>
              <a:buNone/>
            </a:pPr>
            <a:r>
              <a:rPr lang="en-US" sz="1450" dirty="0">
                <a:solidFill>
                  <a:srgbClr val="CADCFC"/>
                </a:solidFill>
                <a:latin typeface="Calibri" pitchFamily="34" charset="0"/>
                <a:ea typeface="Calibri" pitchFamily="34" charset="-122"/>
                <a:cs typeface="Calibri" pitchFamily="34" charset="-120"/>
              </a:rPr>
              <a:t>A five weeks gap in FP2020 production put $285,375 of October sales at risk (22% of that SKU's demand, 6% company-wide) and touched 8 customers unevenly. The data points to a clear playbook.</a:t>
            </a:r>
            <a:endParaRPr lang="en-US" sz="1450" dirty="0"/>
          </a:p>
        </p:txBody>
      </p:sp>
      <p:sp>
        <p:nvSpPr>
          <p:cNvPr id="5" name="Shape 3"/>
          <p:cNvSpPr/>
          <p:nvPr/>
        </p:nvSpPr>
        <p:spPr>
          <a:xfrm>
            <a:off x="640080" y="2651760"/>
            <a:ext cx="128016" cy="128016"/>
          </a:xfrm>
          <a:prstGeom prst="ellipse">
            <a:avLst/>
          </a:prstGeom>
          <a:solidFill>
            <a:srgbClr val="02C39A"/>
          </a:solidFill>
          <a:ln/>
        </p:spPr>
      </p:sp>
      <p:sp>
        <p:nvSpPr>
          <p:cNvPr id="6" name="Text 4"/>
          <p:cNvSpPr/>
          <p:nvPr/>
        </p:nvSpPr>
        <p:spPr>
          <a:xfrm>
            <a:off x="960120" y="2514600"/>
            <a:ext cx="1024128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Track SKU level PSI weekly so a coverage gap is visible before it becomes a stockout.</a:t>
            </a:r>
            <a:endParaRPr lang="en-US" sz="1400" dirty="0"/>
          </a:p>
        </p:txBody>
      </p:sp>
      <p:sp>
        <p:nvSpPr>
          <p:cNvPr id="7" name="Shape 5"/>
          <p:cNvSpPr/>
          <p:nvPr/>
        </p:nvSpPr>
        <p:spPr>
          <a:xfrm>
            <a:off x="640080" y="3337560"/>
            <a:ext cx="128016" cy="128016"/>
          </a:xfrm>
          <a:prstGeom prst="ellipse">
            <a:avLst/>
          </a:prstGeom>
          <a:solidFill>
            <a:srgbClr val="02C39A"/>
          </a:solidFill>
          <a:ln/>
        </p:spPr>
      </p:sp>
      <p:sp>
        <p:nvSpPr>
          <p:cNvPr id="8" name="Text 6"/>
          <p:cNvSpPr/>
          <p:nvPr/>
        </p:nvSpPr>
        <p:spPr>
          <a:xfrm>
            <a:off x="960120" y="3200400"/>
            <a:ext cx="1024128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Prioritize dual-sourcing and flexible delivery terms for top-revenue SKUs like FP2020.</a:t>
            </a:r>
            <a:endParaRPr lang="en-US" sz="1400" dirty="0"/>
          </a:p>
        </p:txBody>
      </p:sp>
      <p:sp>
        <p:nvSpPr>
          <p:cNvPr id="9" name="Shape 7"/>
          <p:cNvSpPr/>
          <p:nvPr/>
        </p:nvSpPr>
        <p:spPr>
          <a:xfrm>
            <a:off x="640080" y="4023360"/>
            <a:ext cx="128016" cy="128016"/>
          </a:xfrm>
          <a:prstGeom prst="ellipse">
            <a:avLst/>
          </a:prstGeom>
          <a:solidFill>
            <a:srgbClr val="02C39A"/>
          </a:solidFill>
          <a:ln/>
        </p:spPr>
      </p:sp>
      <p:sp>
        <p:nvSpPr>
          <p:cNvPr id="10" name="Text 8"/>
          <p:cNvSpPr/>
          <p:nvPr/>
        </p:nvSpPr>
        <p:spPr>
          <a:xfrm>
            <a:off x="960120" y="3886200"/>
            <a:ext cx="10241280" cy="5029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Segment customer communication by exposure Customer8 and Customer1/2 need different conversations.</a:t>
            </a:r>
            <a:endParaRPr lang="en-US" sz="1400" dirty="0"/>
          </a:p>
        </p:txBody>
      </p:sp>
      <p:sp>
        <p:nvSpPr>
          <p:cNvPr id="11" name="Shape 9"/>
          <p:cNvSpPr/>
          <p:nvPr/>
        </p:nvSpPr>
        <p:spPr>
          <a:xfrm>
            <a:off x="658368" y="5120640"/>
            <a:ext cx="2011680" cy="0"/>
          </a:xfrm>
          <a:prstGeom prst="line">
            <a:avLst/>
          </a:prstGeom>
          <a:noFill/>
          <a:ln w="31750">
            <a:solidFill>
              <a:srgbClr val="02C39A"/>
            </a:solidFill>
            <a:prstDash val="solid"/>
          </a:ln>
        </p:spPr>
      </p:sp>
      <p:sp>
        <p:nvSpPr>
          <p:cNvPr id="12" name="Text 10"/>
          <p:cNvSpPr/>
          <p:nvPr/>
        </p:nvSpPr>
        <p:spPr>
          <a:xfrm>
            <a:off x="640080" y="5303520"/>
            <a:ext cx="7315200" cy="45720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805</Words>
  <Application>Microsoft Office PowerPoint</Application>
  <PresentationFormat>Widescreen</PresentationFormat>
  <Paragraphs>84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ASUS K16</cp:lastModifiedBy>
  <cp:revision>4</cp:revision>
  <dcterms:created xsi:type="dcterms:W3CDTF">2026-08-23T06:34:46Z</dcterms:created>
  <dcterms:modified xsi:type="dcterms:W3CDTF">2026-08-24T07:35:32Z</dcterms:modified>
</cp:coreProperties>
</file>